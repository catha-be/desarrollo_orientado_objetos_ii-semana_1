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6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3"/>
  </p:normalViewPr>
  <p:slideViewPr>
    <p:cSldViewPr snapToGrid="0" snapToObjects="1">
      <p:cViewPr varScale="1">
        <p:scale>
          <a:sx n="109" d="100"/>
          <a:sy n="109" d="100"/>
        </p:scale>
        <p:origin x="7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Bernardin" userId="c033b55364a51105" providerId="LiveId" clId="{48F2BAE6-6965-52FC-AAD1-D31E3909D319}"/>
    <pc:docChg chg="custSel modSld">
      <pc:chgData name="Catherine Bernardin" userId="c033b55364a51105" providerId="LiveId" clId="{48F2BAE6-6965-52FC-AAD1-D31E3909D319}" dt="2026-08-15T17:04:52.040" v="4" actId="478"/>
      <pc:docMkLst>
        <pc:docMk/>
      </pc:docMkLst>
      <pc:sldChg chg="addSp delSp modSp mod">
        <pc:chgData name="Catherine Bernardin" userId="c033b55364a51105" providerId="LiveId" clId="{48F2BAE6-6965-52FC-AAD1-D31E3909D319}" dt="2026-08-15T17:04:52.040" v="4" actId="478"/>
        <pc:sldMkLst>
          <pc:docMk/>
          <pc:sldMk cId="0" sldId="300"/>
        </pc:sldMkLst>
        <pc:spChg chg="mod">
          <ac:chgData name="Catherine Bernardin" userId="c033b55364a51105" providerId="LiveId" clId="{48F2BAE6-6965-52FC-AAD1-D31E3909D319}" dt="2026-08-15T17:02:49.823" v="0" actId="1076"/>
          <ac:spMkLst>
            <pc:docMk/>
            <pc:sldMk cId="0" sldId="300"/>
            <ac:spMk id="2" creationId="{00000000-0000-0000-0000-000000000000}"/>
          </ac:spMkLst>
        </pc:spChg>
        <pc:picChg chg="add del mod">
          <ac:chgData name="Catherine Bernardin" userId="c033b55364a51105" providerId="LiveId" clId="{48F2BAE6-6965-52FC-AAD1-D31E3909D319}" dt="2026-08-15T17:04:52.040" v="4" actId="478"/>
          <ac:picMkLst>
            <pc:docMk/>
            <pc:sldMk cId="0" sldId="300"/>
            <ac:picMk id="33" creationId="{B4DF0D98-B5CE-AD19-36B4-E3E5EC57D5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57381-8394-5A41-B96A-7D17043A9689}" type="datetimeFigureOut">
              <a:rPr lang="es-CL" smtClean="0"/>
              <a:t>15-08-26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3BA34-6C41-0448-96DE-F2E96B349C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721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3BA34-6C41-0448-96DE-F2E96B349C2C}" type="slidenum">
              <a:rPr lang="es-CL" smtClean="0"/>
              <a:t>45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983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33791" y="1757682"/>
            <a:ext cx="3456432" cy="2592324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5" name="Rectangle 4"/>
          <p:cNvSpPr/>
          <p:nvPr/>
        </p:nvSpPr>
        <p:spPr>
          <a:xfrm>
            <a:off x="685800" y="685800"/>
            <a:ext cx="91440" cy="53492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Francesco Tossi Brante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32688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50" b="0">
                <a:solidFill>
                  <a:srgbClr val="D4E2EE"/>
                </a:solidFill>
                <a:latin typeface="Aptos"/>
              </a:rPr>
              <a:t>Docente Campus Virtual Duoc UC
fr.tossi@profesor.duoc.cl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4747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Aptos"/>
              </a:rPr>
              <a:t>Sesión Sincrónica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347472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"SEMANA 1"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62179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Desarrollo Orientado a Objetos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34747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FFB700"/>
                </a:solidFill>
                <a:latin typeface="Aptos"/>
              </a:rPr>
              <a:t>PRY2203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22191"/>
            <a:ext cx="612648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D4E2EE"/>
                </a:solidFill>
                <a:latin typeface="Aptos"/>
              </a:rPr>
              <a:t>Aplicando polimorfismo en modelado de clases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6126480" cy="38404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450" b="0">
                <a:solidFill>
                  <a:srgbClr val="D4E2EE"/>
                </a:solidFill>
                <a:latin typeface="Aptos"/>
              </a:rPr>
              <a:t>Experiencia 1 · Principios avanzados de Programación Orientada a Objetos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6126480" cy="38404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Java · IntelliJ IDEA · Git/GitHub · Polimorfismo</a:t>
            </a:r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45816"/>
            <a:ext cx="2560320" cy="19784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🧭 Mapa de la sesión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Semana 1 · Del repaso de POO al primer proyecto versionado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554480"/>
            <a:ext cx="3200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6642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673352"/>
            <a:ext cx="2514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1. Dónde estamos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103120"/>
            <a:ext cx="28163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Experiencia 1, RA1 e IL1.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54480"/>
            <a:ext cx="3200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15544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16642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1673352"/>
            <a:ext cx="2514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2. Repaso POO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103120"/>
            <a:ext cx="28163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Clases, objetos, herencia y Main.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554480"/>
            <a:ext cx="3200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63840" y="15544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1" y="16642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1673352"/>
            <a:ext cx="2514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3. Polimorfismo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2103120"/>
            <a:ext cx="28163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Misma operación, comportamientos distintos.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337560"/>
            <a:ext cx="3200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33756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447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456432"/>
            <a:ext cx="2514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4. Sobrescritura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886200"/>
            <a:ext cx="28163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Especializar métodos heredados con @Override.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337560"/>
            <a:ext cx="3200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333756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3447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3456432"/>
            <a:ext cx="2514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5. Sobrecarga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3886200"/>
            <a:ext cx="28163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Mismo nombre, diferentes parámetros.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3337560"/>
            <a:ext cx="3200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863840" y="333756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28431" y="3447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3456432"/>
            <a:ext cx="2514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6. Actividad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886200"/>
            <a:ext cx="28163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SpeedFast, GitHub, entrega y rúbrica.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0B3454"/>
                </a:solidFill>
                <a:latin typeface="Aptos"/>
              </a:rPr>
              <a:t>Objetivo de la clase: que puedas explicar, implementar y evidenciar polimorfismo mediante sobrecarga y sobrescritura.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🧩 PRY2203: la película completa del bimestre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No construiremos trabajos aislados: construiremos software que evoluciona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1874519"/>
            <a:ext cx="1078992" cy="1078992"/>
          </a:xfrm>
          <a:prstGeom prst="roundRect">
            <a:avLst/>
          </a:prstGeom>
          <a:solidFill>
            <a:srgbClr val="FFB700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Polimorfismo
sobrecarga
sobrescritura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444751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673351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64792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Clases
abstractas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06624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35224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26664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Interfaces
sumativa 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68496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97096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88536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Hilos y
tareas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230368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58968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50407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76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Sincronización
sumativa 2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492240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720840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79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Swing
GUI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754112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982711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74151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9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JDBC
MySQL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015984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44584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36024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DAO CRUD
sumativa 3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277855" y="2221992"/>
            <a:ext cx="256032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506455" y="1874519"/>
            <a:ext cx="1078992" cy="1078992"/>
          </a:xfrm>
          <a:prstGeom prst="roundRect">
            <a:avLst/>
          </a:prstGeom>
          <a:solidFill>
            <a:srgbClr val="F0F3F5"/>
          </a:solidFill>
          <a:ln w="19050">
            <a:solidFill>
              <a:srgbClr val="D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97895" y="1975104"/>
            <a:ext cx="8961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S9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70463" y="2304288"/>
            <a:ext cx="950976" cy="47548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869" b="0">
                <a:solidFill>
                  <a:srgbClr val="3D3D3D"/>
                </a:solidFill>
                <a:latin typeface="Aptos"/>
              </a:rPr>
              <a:t>EFT
integración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3749039"/>
            <a:ext cx="51663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77240" y="3749039"/>
            <a:ext cx="73152" cy="10972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8408" y="3867911"/>
            <a:ext cx="48463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💡 Hoy construimos la primera pieza técnica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4210181"/>
            <a:ext cx="478231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 err="1">
                <a:solidFill>
                  <a:srgbClr val="3D3D3D"/>
                </a:solidFill>
                <a:latin typeface="Aptos"/>
              </a:rPr>
              <a:t>Semana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1 no es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pequeña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: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aquí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se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instala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la base para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pensar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diseño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orientado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objetos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que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usaremos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en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las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semanas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siguientes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749039"/>
            <a:ext cx="51663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0" y="3749039"/>
            <a:ext cx="73152" cy="109728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19088" y="3867911"/>
            <a:ext cx="48463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✅ Lo que hoy debemos dominar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4297679"/>
            <a:ext cx="478231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Distinguir sobrecarga, sobrescritura y polimorfismo; además, demostrarlo desde un proyecto Java real y versionado.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🎯 Resultado de Aprendizaje e Indicador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Lo que debemos comenzar a demostrar esta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417320"/>
            <a:ext cx="73152" cy="19202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1527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1536192"/>
            <a:ext cx="45262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1965960"/>
            <a:ext cx="4828032" cy="1261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Desarrolla soluciones utilizando el paradigma de Programación Orientada a Objetos, focalizadas en la reutilización de código, el desacoplamiento, la escalabilidad y la mantenibilidad del software.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73152" cy="19202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1527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536192"/>
            <a:ext cx="45262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IL1 · Semana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1965960"/>
            <a:ext cx="4828032" cy="1261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Desarrolla métodos sobrecargados y sobrescritos en clases derivadas, para aplicar polimorfismo en la reutilización y extensión del comportamiento del software.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En simple: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379976"/>
            <a:ext cx="95554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crear clases relacionadas mediante herencia;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1830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09160"/>
            <a:ext cx="95554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especializar comportamientos en subclases;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47488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38344"/>
            <a:ext cx="95554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usar el mismo nombre de método con firmas distintas;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7667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367528"/>
            <a:ext cx="95554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ejecutar el programa y demostrar que el comportamiento cambia según el objeto.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📋 Matriz de cobertura de Semana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Qué debe quedar cubierto antes de entregar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1234440"/>
            <a:ext cx="10607040" cy="502920"/>
          </a:xfrm>
          <a:prstGeom prst="rect">
            <a:avLst/>
          </a:prstGeom>
          <a:solidFill>
            <a:srgbClr val="0B3454"/>
          </a:solidFill>
          <a:ln w="19050">
            <a:solidFill>
              <a:srgbClr val="0B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353312"/>
            <a:ext cx="246888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Elemento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53312"/>
            <a:ext cx="758951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Semana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737360"/>
            <a:ext cx="274320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6160" y="1737360"/>
            <a:ext cx="786384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1865376"/>
            <a:ext cx="246888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1">
                <a:solidFill>
                  <a:srgbClr val="0B3454"/>
                </a:solidFill>
                <a:latin typeface="Aptos"/>
              </a:rPr>
              <a:t>Experiencia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865376"/>
            <a:ext cx="758951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Experiencia 1 · Principios avanzados de POO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240280"/>
            <a:ext cx="27432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2240280"/>
            <a:ext cx="78638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368296"/>
            <a:ext cx="246888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1">
                <a:solidFill>
                  <a:srgbClr val="0B3454"/>
                </a:solidFill>
                <a:latin typeface="Aptos"/>
              </a:rPr>
              <a:t>Actividad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368296"/>
            <a:ext cx="758951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Formativa 1 · Explorando sobrecarga y sobrescritura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743200"/>
            <a:ext cx="274320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66160" y="2743200"/>
            <a:ext cx="786384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2871216"/>
            <a:ext cx="246888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1">
                <a:solidFill>
                  <a:srgbClr val="0B3454"/>
                </a:solidFill>
                <a:latin typeface="Aptos"/>
              </a:rPr>
              <a:t>Caso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871216"/>
            <a:ext cx="758951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SpeedFast · pedidos de comida, encomienda y compra express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246120"/>
            <a:ext cx="27432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66160" y="3246120"/>
            <a:ext cx="78638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3374136"/>
            <a:ext cx="246888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1">
                <a:solidFill>
                  <a:srgbClr val="0B3454"/>
                </a:solidFill>
                <a:latin typeface="Aptos"/>
              </a:rPr>
              <a:t>Conceptos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374136"/>
            <a:ext cx="758951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Herencia, polimorfismo, sobrescritura, sobrecarga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749039"/>
            <a:ext cx="274320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66160" y="3749039"/>
            <a:ext cx="786384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3877055"/>
            <a:ext cx="246888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1">
                <a:solidFill>
                  <a:srgbClr val="0B3454"/>
                </a:solidFill>
                <a:latin typeface="Aptos"/>
              </a:rPr>
              <a:t>Herramientas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5"/>
            <a:ext cx="758951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Java 21, IntelliJ IDEA, Git, GitHub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251960"/>
            <a:ext cx="27432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566160" y="4251960"/>
            <a:ext cx="78638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4379976"/>
            <a:ext cx="246888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1">
                <a:solidFill>
                  <a:srgbClr val="0B3454"/>
                </a:solidFill>
                <a:latin typeface="Aptos"/>
              </a:rPr>
              <a:t>Evidencia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379976"/>
            <a:ext cx="758951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Proyecto Java funcional + consola clara + repositorio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720" y="5074920"/>
            <a:ext cx="9601200" cy="731520"/>
          </a:xfrm>
          <a:prstGeom prst="roundRect">
            <a:avLst/>
          </a:prstGeom>
          <a:solidFill>
            <a:srgbClr val="FFFBF2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88720" y="5074920"/>
            <a:ext cx="73152" cy="73152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89888" y="5193792"/>
            <a:ext cx="92811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📌 Regla docente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2080" y="5470442"/>
            <a:ext cx="9217152" cy="731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>
                <a:solidFill>
                  <a:srgbClr val="3D3D3D"/>
                </a:solidFill>
                <a:latin typeface="Aptos"/>
              </a:rPr>
              <a:t>La PPT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enseña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y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orienta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. La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actividad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oficial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, sus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instrucciones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y la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pauta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siguen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estando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en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1 · Antes de programar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Recuperemos la base necesaria de Programación Orientada a Objetos.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🎯 Objetivos de la Semana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Al finalizar esta semana deberías poder demostrarlo con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258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316736"/>
            <a:ext cx="101955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Explicar qué es el polimorfismo en palabras simples y técnicas.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6479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1755648"/>
            <a:ext cx="101955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Diferenciar sobrecarga y sobrescritura sin mezclarlas.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20370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194560"/>
            <a:ext cx="101955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Usar herencia para construir una jerarquía de clases.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4261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633472"/>
            <a:ext cx="101955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Sobrescribir métodos heredados utilizando @Override.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81528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072384"/>
            <a:ext cx="101955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Sobrecargar métodos con distintas firmas.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2044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511296"/>
            <a:ext cx="101955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Ejecutar un Main que evidencie comportamientos diferentes.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5935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950208"/>
            <a:ext cx="101955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Publicar el proyecto en GitHub y entregar correctamente por AVA.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86400"/>
            <a:ext cx="10241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5486400"/>
            <a:ext cx="73152" cy="7772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5605272"/>
            <a:ext cx="99212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💡 Idea clave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6035040"/>
            <a:ext cx="9857232" cy="118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No basta con que el código compile. Debemos poder explicar qué relación hay entre las clases y qué evidencia muestra la ejecución.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🔁 Repaso rápido: clases, objetos y responsabilidades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Lo que necesitamos recordar desde POO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23444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353312"/>
            <a:ext cx="2788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Clase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783080"/>
            <a:ext cx="309067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Molde o plantilla que define atributos y métodos.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3444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234440"/>
            <a:ext cx="73152" cy="12344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371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353312"/>
            <a:ext cx="2788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Objeto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783080"/>
            <a:ext cx="309067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Instancia concreta creada desde una clase.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23444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1234440"/>
            <a:ext cx="73152" cy="12344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1353312"/>
            <a:ext cx="2788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Método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783080"/>
            <a:ext cx="309067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Comportamiento que puede ejecutar un objeto.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24612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Pregunta antes de programar: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73989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¿Qué elementos del problema se transforman en clases?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052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15137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¿Qué datos necesita cada clase?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56285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¿Qué acciones debe ejecutar?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97433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¿Qué debe ser común y qué debe cambiar?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Antes de escribir código, pensemos el modelo.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🔗 Repaso: herencia y clases derivadas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La base para entender polimorfismo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384048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En palabras simples: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27632"/>
            <a:ext cx="480060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La herencia permite crear una clase más específica a partir de una clase más general.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143000"/>
            <a:ext cx="5394960" cy="301752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1143000"/>
            <a:ext cx="539496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197864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 dirty="0" err="1">
                <a:solidFill>
                  <a:srgbClr val="FFFFFF"/>
                </a:solidFill>
                <a:latin typeface="Aptos"/>
              </a:rPr>
              <a:t>Ejemplo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1563624"/>
            <a:ext cx="5047488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00" b="0">
                <a:solidFill>
                  <a:srgbClr val="E8F0F8"/>
                </a:solidFill>
                <a:latin typeface="Consolas"/>
              </a:rPr>
              <a:t>public class Vehiculo {
    public void mover() {
        System.out.println("El vehículo se mueve.");
    }
}
public class Bicicleta extends Vehiculo {
    // Hereda mover()
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80360"/>
            <a:ext cx="4800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2880360"/>
            <a:ext cx="73152" cy="10058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29900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999232"/>
            <a:ext cx="41148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Regla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29000"/>
            <a:ext cx="4416552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Si la relación tiene sentido como “es un tipo de”, puede existir una relación de herencia.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14800"/>
            <a:ext cx="4800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114800"/>
            <a:ext cx="73152" cy="10058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2245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233672"/>
            <a:ext cx="41148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Conexión con la semana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663440"/>
            <a:ext cx="4416552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Sin herencia no podemos hablar de sobrescritura entre clase padre y clase hija.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072" y="31089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⚠️ El problema: código rígido y demasiados condicionales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¿Qué pasaría si no usamos polimorfismo?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234440"/>
            <a:ext cx="5394960" cy="297180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234440"/>
            <a:ext cx="539496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289304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Una solución que crece 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655064"/>
            <a:ext cx="5047488" cy="249631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50" b="0">
                <a:solidFill>
                  <a:srgbClr val="E8F0F8"/>
                </a:solidFill>
                <a:latin typeface="Consolas"/>
              </a:rPr>
              <a:t>if (tipoUsuario.equals("ESTUDIANTE")) {
    System.out.println("Tarifa estudiante aplicada.");
} else if (tipoUsuario.equals("ADULTO")) {
    System.out.println("Tarifa adulto aplicada.");
} else if (tipoUsuario.equals("TERCERA_EDAD")) {
    System.out.println("Tarifa tercera edad aplicada.");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184147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 dirty="0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79" y="1156715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 dirty="0" err="1">
                <a:solidFill>
                  <a:srgbClr val="3D3D3D"/>
                </a:solidFill>
                <a:latin typeface="Aptos"/>
              </a:rPr>
              <a:t>Cada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nuevo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tipo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obliga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a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modificar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mismo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bloque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1907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1709928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 dirty="0">
                <a:solidFill>
                  <a:srgbClr val="3D3D3D"/>
                </a:solidFill>
                <a:latin typeface="Aptos"/>
              </a:rPr>
              <a:t>La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lógica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se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concentra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en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un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lugar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difícil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de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mantener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9423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 dirty="0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823" y="2219706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 dirty="0" err="1">
                <a:solidFill>
                  <a:srgbClr val="3D3D3D"/>
                </a:solidFill>
                <a:latin typeface="Aptos"/>
              </a:rPr>
              <a:t>Aumenta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riesgo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de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errores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al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agregar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casos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02815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 dirty="0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2775383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 dirty="0">
                <a:solidFill>
                  <a:srgbClr val="3D3D3D"/>
                </a:solidFill>
                <a:latin typeface="Aptos"/>
              </a:rPr>
              <a:t>El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programa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pregunta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demasiado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por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tipo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del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objeto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977639"/>
            <a:ext cx="4663440" cy="1051560"/>
          </a:xfrm>
          <a:prstGeom prst="roundRect">
            <a:avLst/>
          </a:prstGeom>
          <a:solidFill>
            <a:srgbClr val="FFFBF2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3977639"/>
            <a:ext cx="73152" cy="10515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4096511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💡 Necesitamos otra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7" y="4526279"/>
            <a:ext cx="4279392" cy="393191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Delegar el comportamiento al objeto correcto. Que cada clase sepa cómo responder.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2 · Polimorfismo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Una misma operación, distintos comportamientos según el objeto real.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31388" y="859535"/>
            <a:ext cx="4018607" cy="401860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🧠 ¿Qué es el polimorfismo?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Primero la idea, después la sintaxis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1887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En palabras simples: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0020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0">
                <a:solidFill>
                  <a:srgbClr val="3D3D3D"/>
                </a:solidFill>
                <a:latin typeface="Aptos"/>
              </a:rPr>
              <a:t>Distintos objetos pueden recibir el mismo mensaje y responder de manera diferente.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Definición técnica: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493776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 dirty="0" err="1">
                <a:solidFill>
                  <a:srgbClr val="3D3D3D"/>
                </a:solidFill>
                <a:latin typeface="Aptos"/>
              </a:rPr>
              <a:t>Capacidad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 de un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objeto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 para responder de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distintas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 formas a un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mismo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método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,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según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su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tipo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3D3D3D"/>
                </a:solidFill>
                <a:latin typeface="Aptos"/>
              </a:rPr>
              <a:t>específico</a:t>
            </a:r>
            <a:r>
              <a:rPr sz="180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34440"/>
            <a:ext cx="5029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234440"/>
            <a:ext cx="73152" cy="14630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1353312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¿Para qué sirve?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1783080"/>
            <a:ext cx="4645152" cy="8046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Permite reducir condicionales, extender el sistema con nuevas clases y mejorar modularidad, mantenibilidad y escalabilidad.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017520"/>
            <a:ext cx="5029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73152" cy="10972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1272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3136391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Idea 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566160"/>
            <a:ext cx="464515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No preguntes todo en un if. Diseña objetos que sepan responder.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00600"/>
            <a:ext cx="4846320" cy="38404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200" b="1">
                <a:solidFill>
                  <a:srgbClr val="0B3454"/>
                </a:solidFill>
                <a:latin typeface="Aptos"/>
              </a:rPr>
              <a:t>poly + morphē = muchas formas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5321808"/>
            <a:ext cx="33832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💻 Paso 1: crear una clase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Ejemplo paralelo de transporte público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078992"/>
            <a:ext cx="98755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00" b="1">
                <a:solidFill>
                  <a:srgbClr val="F27B28"/>
                </a:solidFill>
                <a:latin typeface="Aptos"/>
              </a:rPr>
              <a:t>Este ejemplo es de apoyo docente. La actividad oficial usa SpeedFast.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486400" cy="233172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1554480"/>
            <a:ext cx="548640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1609344"/>
            <a:ext cx="51206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Usuario.java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75104"/>
            <a:ext cx="5138928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50" b="0">
                <a:solidFill>
                  <a:srgbClr val="E8F0F8"/>
                </a:solidFill>
                <a:latin typeface="Consolas"/>
              </a:rPr>
              <a:t>public class Usuario {
    public void validarPasaje() {
        System.out.println("Validación general de pasaje.");
    }
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554480"/>
            <a:ext cx="4663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7960" y="1554480"/>
            <a:ext cx="73152" cy="14173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2552" y="16642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673352"/>
            <a:ext cx="397763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realizamos aquí?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103120"/>
            <a:ext cx="4279392" cy="7589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Creamos un método general validarPasaje(). Será común a todos los usuarios, pero podrá cambiar en subclases más específicas.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291840"/>
            <a:ext cx="4663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37960" y="3291840"/>
            <a:ext cx="73152" cy="118872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02552" y="34015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3410712"/>
            <a:ext cx="397763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Concepto importante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3840480"/>
            <a:ext cx="4279392" cy="5303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clase base entrega un comportamiento inicial. Todavía no hemos visto el polimorfismo en ejecución.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💻 Paso 2: crear subclases que sobrescriben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Cada subclase especializa el comportamiento heredado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760720" cy="406908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188720"/>
            <a:ext cx="576072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243584"/>
            <a:ext cx="539495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Subclases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09344"/>
            <a:ext cx="5413248" cy="359359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80" b="0">
                <a:solidFill>
                  <a:srgbClr val="E8F0F8"/>
                </a:solidFill>
                <a:latin typeface="Consolas"/>
              </a:rPr>
              <a:t>public class Estudiante extends Usuario {
    @Override
    public void validarPasaje() {
        System.out.println("Tarifa estudiante aplicada.");
    }
}
public class Adulto extends Usuario {
    @Override
    public void validarPasaje() {
        System.out.println("Tarifa adulto aplicada.");
  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3258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316736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Estudiante hereda de Usuario.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709928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700784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Adulto hereda de Usuario.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9397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084832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Ambos reescriben validarPasaje().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47802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468880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@Override indica que estamos sobrescribiendo correctamente.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004342"/>
            <a:ext cx="225911" cy="2845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 dirty="0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004342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 dirty="0">
                <a:solidFill>
                  <a:srgbClr val="3D3D3D"/>
                </a:solidFill>
                <a:latin typeface="Aptos"/>
              </a:rPr>
              <a:t>La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firma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del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método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se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mantiene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igual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251960"/>
            <a:ext cx="4480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66560" y="4251960"/>
            <a:ext cx="73152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31152" y="43616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4370832"/>
            <a:ext cx="37947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Pregunta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4672943"/>
            <a:ext cx="40965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>
                <a:solidFill>
                  <a:srgbClr val="3D3D3D"/>
                </a:solidFill>
                <a:latin typeface="Aptos"/>
              </a:rPr>
              <a:t>¿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Qué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debería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ocurrir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si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llamamos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validarPasaje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()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desde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una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referencia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de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tipo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Usuario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🖥️ Paso 3: usar referencias polimórficas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Aquí aparece el comportamiento dinámico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1143000"/>
            <a:ext cx="5806440" cy="425196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143000"/>
            <a:ext cx="580644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197864"/>
            <a:ext cx="544067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Main.java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63624"/>
            <a:ext cx="5458968" cy="377647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50" b="0">
                <a:solidFill>
                  <a:srgbClr val="E8F0F8"/>
                </a:solidFill>
                <a:latin typeface="Consolas"/>
              </a:rPr>
              <a:t>public class Main {
    public static void main(String[] args) {
        Usuario[] usuarios = {
            new Estudiante(),
            new Adulto(),
            new TerceraEdad()
        };
        for (Usuario u : usuarios) {
            u.validarPasaje();
        }
    }
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234440"/>
            <a:ext cx="4480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12280" y="1234440"/>
            <a:ext cx="73152" cy="12801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7687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1353312"/>
            <a:ext cx="37947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Fíjate en esta línea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1783080"/>
            <a:ext cx="4096512" cy="6217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Usuario[] usuarios contiene objetos reales de distintos tipos: Estudiante, Adulto y TerceraEdad.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2788920"/>
            <a:ext cx="4480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12280" y="2788920"/>
            <a:ext cx="73152" cy="128016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76872" y="28986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2907791"/>
            <a:ext cx="37947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ejecuta Java?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337560"/>
            <a:ext cx="4096512" cy="6217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Aunque la referencia sea Usuario, Java ejecuta el método del objeto real creado con new.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4343400"/>
            <a:ext cx="44805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12280" y="4343400"/>
            <a:ext cx="73152" cy="7772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76872" y="44531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4462272"/>
            <a:ext cx="37947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Nombre técnico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4892040"/>
            <a:ext cx="4096512" cy="118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Polimorfismo en tiempo de ejecución.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🖥️ Resultado esperado en consola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La salida evidencia que el comportamiento cambia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234440"/>
            <a:ext cx="5303520" cy="2377440"/>
          </a:xfrm>
          <a:prstGeom prst="roundRect">
            <a:avLst/>
          </a:prstGeom>
          <a:solidFill>
            <a:srgbClr val="0A0D10"/>
          </a:solidFill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1234440"/>
            <a:ext cx="5303520" cy="320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289304"/>
            <a:ext cx="493775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C8C8C8"/>
                </a:solidFill>
                <a:latin typeface="Aptos"/>
              </a:rPr>
              <a:t>Consola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664208"/>
            <a:ext cx="4919472" cy="1874519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C6F6D5"/>
                </a:solidFill>
                <a:latin typeface="Consolas"/>
              </a:rPr>
              <a:t>Tarifa estudiante aplicada.
Tarifa adulto aplicada.
Tarifa tercera edad aplicada.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B3454"/>
                </a:solidFill>
                <a:latin typeface="Aptos"/>
              </a:rPr>
              <a:t>¿Qué evidencia esta salida?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19656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El mismo método se invocó varias veces.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31136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Cada objeto respondió con una lógica diferente.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42616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No usamos un if para preguntar por cada tipo.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54096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La clase concreta decide el comportamiento.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97680"/>
            <a:ext cx="102412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297680"/>
            <a:ext cx="73152" cy="8686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4416552"/>
            <a:ext cx="99212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 tener clases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846320"/>
            <a:ext cx="9857232" cy="210311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evidencia aparece cuando el código se ejecuta y la consola muestra comportamientos diferenciados.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🔗 Referencia vs. objeto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Esta diferencia explica por qué funciona el polimorfismo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3017520" cy="100584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C6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664208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0B3454"/>
                </a:solidFill>
                <a:latin typeface="Aptos"/>
              </a:rPr>
              <a:t>Referencia
Usuario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1783080"/>
            <a:ext cx="914400" cy="32004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0" y="868680"/>
            <a:ext cx="4297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987552"/>
            <a:ext cx="39319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0B3454"/>
                </a:solidFill>
                <a:latin typeface="Aptos"/>
              </a:rPr>
              <a:t>new Estudiante()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298448"/>
            <a:ext cx="39319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50" b="0">
                <a:solidFill>
                  <a:srgbClr val="3D3D3D"/>
                </a:solidFill>
                <a:latin typeface="Aptos"/>
              </a:rPr>
              <a:t>validarPasaje() → estudiante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286000"/>
            <a:ext cx="4297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2404872"/>
            <a:ext cx="39319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0B3454"/>
                </a:solidFill>
                <a:latin typeface="Aptos"/>
              </a:rPr>
              <a:t>new Adulto()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715768"/>
            <a:ext cx="39319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50" b="0">
                <a:solidFill>
                  <a:srgbClr val="3D3D3D"/>
                </a:solidFill>
                <a:latin typeface="Aptos"/>
              </a:rPr>
              <a:t>validarPasaje() → adulto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703320"/>
            <a:ext cx="4297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3822191"/>
            <a:ext cx="39319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00" b="1">
                <a:solidFill>
                  <a:srgbClr val="0B3454"/>
                </a:solidFill>
                <a:latin typeface="Aptos"/>
              </a:rPr>
              <a:t>new TerceraEdad()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133087"/>
            <a:ext cx="39319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50" b="0">
                <a:solidFill>
                  <a:srgbClr val="3D3D3D"/>
                </a:solidFill>
                <a:latin typeface="Aptos"/>
              </a:rPr>
              <a:t>validarPasaje() → tercera edad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120640"/>
            <a:ext cx="97840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5120640"/>
            <a:ext cx="73152" cy="6858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07008" y="5239512"/>
            <a:ext cx="94640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💡 Idea clave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9012" y="5586984"/>
            <a:ext cx="9400032" cy="274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>
                <a:solidFill>
                  <a:srgbClr val="3D3D3D"/>
                </a:solidFill>
                <a:latin typeface="Aptos"/>
              </a:rPr>
              <a:t>El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tipo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de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referencia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permite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tratar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los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objetos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de forma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uniforme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;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objeto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real define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qué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implementación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se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ejecuta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✅ ¿Por qué el polimorfismo mejora el diseño?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No es solo “materia”: es una forma de mantener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234440"/>
            <a:ext cx="4937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234440"/>
            <a:ext cx="73152" cy="12344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35331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Menos condicionales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783080"/>
            <a:ext cx="455371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Cada clase sabe cómo ejecutar su comportamiento.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34440"/>
            <a:ext cx="4937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73152" cy="12344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35331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Más extensible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783080"/>
            <a:ext cx="455371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Agregar un nuevo tipo no obliga a reescribir toda la lógica.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926080"/>
            <a:ext cx="4937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2926080"/>
            <a:ext cx="73152" cy="12344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0358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0449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Más mantenible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474720"/>
            <a:ext cx="455371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Las responsabilidades quedan distribuidas y son más fáciles de ubicar.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926080"/>
            <a:ext cx="4937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2926080"/>
            <a:ext cx="73152" cy="123444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0358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0449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Más claro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474720"/>
            <a:ext cx="455371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El código expresa mejor la intención del modelo.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100" b="1">
                <a:solidFill>
                  <a:srgbClr val="0B3454"/>
                </a:solidFill>
                <a:latin typeface="Aptos"/>
              </a:rPr>
              <a:t>RA1 apunta justamente a reutilización, desacoplamiento, escalabilidad y mantenibilidad.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✍️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3 · Sobrescritura de métodos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Especializar el comportamiento heredado en clases derivadas.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✍️ ¿Qué es la sobrescritura?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Overriding · polimorfismo en tiempo de ejecución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1430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En palabras simples: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4754880" cy="6858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0">
                <a:solidFill>
                  <a:srgbClr val="3D3D3D"/>
                </a:solidFill>
                <a:latin typeface="Aptos"/>
              </a:rPr>
              <a:t>Una clase hija toma un método heredado y le da su propia versión.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Definición técnica: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4754880" cy="8686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Ocurre cuando una subclase redefine un método de la clase base manteniendo la misma firma.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4983480" cy="205740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498348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335024"/>
            <a:ext cx="46177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Sintaxis mínima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00784"/>
            <a:ext cx="4636008" cy="158191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700" b="0">
                <a:solidFill>
                  <a:srgbClr val="E8F0F8"/>
                </a:solidFill>
                <a:latin typeface="Consolas"/>
              </a:rPr>
              <a:t>@Override
public void validarPasaje() {
    System.out.println("Tarifa estudiante aplicada.");
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49039"/>
            <a:ext cx="4983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3749039"/>
            <a:ext cx="73152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38587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867911"/>
            <a:ext cx="4297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Regla esencial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297679"/>
            <a:ext cx="4599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mismo nombre + mismos parámetros + relación de herencia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Reglas de la sobrescritura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Lo que Java necesita para reconocerla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28016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271016"/>
            <a:ext cx="54406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0">
                <a:solidFill>
                  <a:srgbClr val="3D3D3D"/>
                </a:solidFill>
                <a:latin typeface="Aptos"/>
              </a:rPr>
              <a:t>Debe existir herencia entre clase base y subclase.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1907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1709928"/>
            <a:ext cx="54406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0">
                <a:solidFill>
                  <a:srgbClr val="3D3D3D"/>
                </a:solidFill>
                <a:latin typeface="Aptos"/>
              </a:rPr>
              <a:t>El método debe mantener la misma firma.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5798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148840"/>
            <a:ext cx="54406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0">
                <a:solidFill>
                  <a:srgbClr val="3D3D3D"/>
                </a:solidFill>
                <a:latin typeface="Aptos"/>
              </a:rPr>
              <a:t>La subclase entrega una implementación propia.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59689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587752"/>
            <a:ext cx="54406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0">
                <a:solidFill>
                  <a:srgbClr val="3D3D3D"/>
                </a:solidFill>
                <a:latin typeface="Aptos"/>
              </a:rPr>
              <a:t>Se recomienda usar @Override.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35808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026664"/>
            <a:ext cx="54406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0">
                <a:solidFill>
                  <a:srgbClr val="3D3D3D"/>
                </a:solidFill>
                <a:latin typeface="Aptos"/>
              </a:rPr>
              <a:t>La decisión de qué método ejecutar ocurre en tiempo de ejecución.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1463040"/>
            <a:ext cx="4251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0" y="1463040"/>
            <a:ext cx="73152" cy="12344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22592" y="15727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1581912"/>
            <a:ext cx="35661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Firma del método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011680"/>
            <a:ext cx="386791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Incluye principalmente el nombre y la lista de parámetros. Cambiar parámetros cambia la firma.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063240"/>
            <a:ext cx="42519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0" y="306324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22592" y="31729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3182112"/>
            <a:ext cx="35661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Error común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611880"/>
            <a:ext cx="386791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Cambiar accidentalmente un parámetro y pensar que estamos sobrescribiendo.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4572000"/>
            <a:ext cx="4251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4572000"/>
            <a:ext cx="73152" cy="96012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22592" y="46817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4690872"/>
            <a:ext cx="35661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Cómo comprobarlo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120640"/>
            <a:ext cx="3867912" cy="3017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Usa @Override. Si Java marca error, revisa nombre y parámetros.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🔍 ¿Para qué sirve @Override?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No es decoración: es una verificación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1143000"/>
            <a:ext cx="5669280" cy="448056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143000"/>
            <a:ext cx="566928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197864"/>
            <a:ext cx="53035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Error intencional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63624"/>
            <a:ext cx="5321808" cy="400507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60" b="0">
                <a:solidFill>
                  <a:srgbClr val="E8F0F8"/>
                </a:solidFill>
                <a:latin typeface="Consolas"/>
              </a:rPr>
              <a:t>public class Empleado {
    public void calcularBono() {
        System.out.println("Bono general");
    }
}
public class Supervisor extends Empleado {
    @Override
    public void calcularBonos() {  // ERROR: sobra una 's'
        System.out.println("Bono supervisor");
  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3258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1316736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@Override le dice al compilador: “debo estar sobrescribiendo”.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76479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1755648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Si el nombre o parámetros no coinciden, Java avisa.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0370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2194560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No elimines @Override solo para ocultar el error.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4261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633472"/>
            <a:ext cx="41605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Primero revisa la firma del método.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9983" y="4209467"/>
            <a:ext cx="4480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20840" y="4251960"/>
            <a:ext cx="73152" cy="9144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85431" y="43616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4370832"/>
            <a:ext cx="37947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Corrección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4672584"/>
            <a:ext cx="409651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>
                <a:solidFill>
                  <a:srgbClr val="3D3D3D"/>
                </a:solidFill>
                <a:latin typeface="Aptos"/>
              </a:rPr>
              <a:t>El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método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debe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llamarse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calcularBono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(),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exactamente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igual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al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método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heredado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❌ Error frecuente: cambiar la firma sin querer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Sobrescritura vs. otra versión del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43000"/>
            <a:ext cx="5715000" cy="393192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43000"/>
            <a:ext cx="571500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197864"/>
            <a:ext cx="53492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¿Sobrescribe o no?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563624"/>
            <a:ext cx="5367528" cy="345643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50" b="0">
                <a:solidFill>
                  <a:srgbClr val="E8F0F8"/>
                </a:solidFill>
                <a:latin typeface="Consolas"/>
              </a:rPr>
              <a:t>public class Dispositivo {
    public void encender() {
        System.out.println("Encendido general");
    }
}
public class Televisor extends Dispositivo {
    public void encender(String controlRemoto) {
        System.out.println("Televisor encendido");
  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280160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B3454"/>
                </a:solidFill>
                <a:latin typeface="Aptos"/>
              </a:rPr>
              <a:t>Pregunta: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691640"/>
            <a:ext cx="43891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¿encender(String controlRemoto) sobrescribe encender()?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743200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0" y="2743200"/>
            <a:ext cx="73152" cy="96012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31152" y="28529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862072"/>
            <a:ext cx="37033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Respuesta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291840"/>
            <a:ext cx="4005072" cy="3017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No. Los parámetros son distintos, por lo tanto la firma cambia.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3977639"/>
            <a:ext cx="4389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6560" y="3977639"/>
            <a:ext cx="73152" cy="10972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31152" y="40873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096511"/>
            <a:ext cx="37033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es entonces?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526279"/>
            <a:ext cx="400507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Una sobrecarga si ambos métodos coexisten como variantes del mismo nombre.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4 · Sobrecarga de métodos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Mismo nombre, distintas firmas según los datos disponibles.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⚙️ ¿Qué es la sobrecarga?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Overloading · polimorfismo en tiempo de compilación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1430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En palabras simples: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554480"/>
            <a:ext cx="493776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0">
                <a:solidFill>
                  <a:srgbClr val="3D3D3D"/>
                </a:solidFill>
                <a:latin typeface="Aptos"/>
              </a:rPr>
              <a:t>Usar el mismo nombre de método para acciones similares, pero recibiendo datos diferentes.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Definición técnica: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Definir varios métodos con el mismo nombre, pero con diferente lista de parámetros.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4754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73152" cy="9144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4356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444752"/>
            <a:ext cx="4069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Diferencias válidas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874519"/>
            <a:ext cx="43708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Cantidad, tipo u orden de los parámetros.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14600"/>
            <a:ext cx="4754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514600"/>
            <a:ext cx="73152" cy="9144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6243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633472"/>
            <a:ext cx="4069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Lo que NO basta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063240"/>
            <a:ext cx="43708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Cambiar solo el tipo de retorno no genera sobrecarga válida.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03320"/>
            <a:ext cx="4754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73152" cy="9144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3822191"/>
            <a:ext cx="4069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¿Quién decide?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51959"/>
            <a:ext cx="43708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El compilador selecciona la versión según los argumentos enviados.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💻 Ejemplo: Validador con métodos sobrecargados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Tres versiones del mismo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1051560"/>
            <a:ext cx="6629400" cy="521208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051560"/>
            <a:ext cx="662940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1106424"/>
            <a:ext cx="62636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Validador.java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472184"/>
            <a:ext cx="6281928" cy="473659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950" b="0">
                <a:solidFill>
                  <a:srgbClr val="E8F0F8"/>
                </a:solidFill>
                <a:latin typeface="Consolas"/>
              </a:rPr>
              <a:t>public class Validador {
    public void validarPasaje() {
        System.out.println("Validación estándar sin datos.");
    }
    public void validarPasaje(String tipoUsuario) {
        System.out.println("Validación para tipo: " + tipoUsuario);
    }
    public void validarPasaje(String tipoUsuario, int edad) {
        if ("Tercera Edad".equalsIgnoreCase(tipoUsuario) &amp;&amp; edad &gt;= 60) {
            System.out.println("Descuento aplicado por edad avanzada.");
        } else {
            System.out.println("Validación para " + tipoUsuario + ", edad: " + edad);
        }
  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3258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316736"/>
            <a:ext cx="37947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validarPasaje()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176479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755648"/>
            <a:ext cx="37947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validarPasaje(String tipoUsuario)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20370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194560"/>
            <a:ext cx="37947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validarPasaje(String tipoUsuario, int edad)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3246120"/>
            <a:ext cx="4114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324612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33558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3364991"/>
            <a:ext cx="34290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Idea 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3794759"/>
            <a:ext cx="37307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Mismo nombre, diferentes datos de entrada. Esa diferencia permite que Java elija la versión correcta.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🖥️ Ejecutar métodos sobrecargados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La invocación determina qué versión se usa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88720"/>
            <a:ext cx="5212080" cy="201168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88720"/>
            <a:ext cx="521208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243584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Main.java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609344"/>
            <a:ext cx="4864608" cy="153619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600" b="0">
                <a:solidFill>
                  <a:srgbClr val="E8F0F8"/>
                </a:solidFill>
                <a:latin typeface="Consolas"/>
              </a:rPr>
              <a:t>Validador validador = new Validador();
validador.validarPasaje();
validador.validarPasaje("Estudiante");
validador.validarPasaje("Tercera Edad", 65);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5212080" cy="1600200"/>
          </a:xfrm>
          <a:prstGeom prst="roundRect">
            <a:avLst/>
          </a:prstGeom>
          <a:solidFill>
            <a:srgbClr val="0A0D10"/>
          </a:solidFill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657600"/>
            <a:ext cx="5212080" cy="320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3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C8C8C8"/>
                </a:solidFill>
                <a:latin typeface="Aptos"/>
              </a:rPr>
              <a:t>Consola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087368"/>
            <a:ext cx="4828032" cy="10972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50" b="0">
                <a:solidFill>
                  <a:srgbClr val="C6F6D5"/>
                </a:solidFill>
                <a:latin typeface="Consolas"/>
              </a:rPr>
              <a:t>Validación estándar sin datos.
Validación para tipo: Estudiante
Descuento aplicado por edad avanzada.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3716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1362456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Sin argumentos → versión sin parámetros.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1773936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Un String → versión con tipo de usuario.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9456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2185416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String + int → versión con tipo y edad.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0604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2596896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El nombre se mantiene porque la intención es similar.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977639"/>
            <a:ext cx="4663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3977639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1" y="40873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4096511"/>
            <a:ext cx="397763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Pregunta clave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7" y="4526279"/>
            <a:ext cx="427939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¿Qué datos tengo disponibles para ejecutar la operación?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❌ Lo que NO es sobrecarga válida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Cambiar solo el retorno no alcanza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325880"/>
            <a:ext cx="5120640" cy="201168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1325880"/>
            <a:ext cx="512064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380744"/>
            <a:ext cx="475487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746504"/>
            <a:ext cx="4773168" cy="153619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700" b="0">
                <a:solidFill>
                  <a:srgbClr val="E8F0F8"/>
                </a:solidFill>
                <a:latin typeface="Consolas"/>
              </a:rPr>
              <a:t>public int calcular(int numero) {
    return numero;
}
public double calcular(int numero) {
    return numero;
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17320"/>
            <a:ext cx="45720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1417320"/>
            <a:ext cx="73152" cy="123444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6831" y="1527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536192"/>
            <a:ext cx="38862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¿Por qué falla?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1965960"/>
            <a:ext cx="418795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Ambos métodos tienen la misma firma: calcular(int). Java no puede diferenciarlos solo por el tipo de retorno.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971800"/>
            <a:ext cx="4572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297180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6831" y="30815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090672"/>
            <a:ext cx="38862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Corrección posible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7" y="3520440"/>
            <a:ext cx="418795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Cambiar la lista de parámetros: calcular(int numero, double factor) o calcular(double numero).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200" b="1">
                <a:solidFill>
                  <a:srgbClr val="0B3454"/>
                </a:solidFill>
                <a:latin typeface="Aptos"/>
              </a:rPr>
              <a:t>Regla mental: para sobrecargar, cambia los parámetros; no solo el retorno.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⚖️ Sobrecarga vs. sobrescritura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La comparación que debes dominar esta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143000"/>
            <a:ext cx="10881359" cy="502920"/>
          </a:xfrm>
          <a:prstGeom prst="rect">
            <a:avLst/>
          </a:prstGeom>
          <a:solidFill>
            <a:srgbClr val="0B3454"/>
          </a:solidFill>
          <a:ln w="19050">
            <a:solidFill>
              <a:srgbClr val="0B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271016"/>
            <a:ext cx="1883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Aspecto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1271016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Sobrecarga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1271016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Sobrescritura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45920"/>
            <a:ext cx="2103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764792"/>
            <a:ext cx="1883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1">
                <a:solidFill>
                  <a:srgbClr val="0B3454"/>
                </a:solidFill>
                <a:latin typeface="Aptos"/>
              </a:rPr>
              <a:t>Nombre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645920"/>
            <a:ext cx="4389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2928" y="176479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Igual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645920"/>
            <a:ext cx="4389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2048" y="176479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Igual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148840"/>
            <a:ext cx="2103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2267712"/>
            <a:ext cx="1883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1">
                <a:solidFill>
                  <a:srgbClr val="0B3454"/>
                </a:solidFill>
                <a:latin typeface="Aptos"/>
              </a:rPr>
              <a:t>Parámetros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148840"/>
            <a:ext cx="4389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52928" y="226771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Diferentes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2148840"/>
            <a:ext cx="4389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42048" y="226771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Mismos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651760"/>
            <a:ext cx="2103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2770632"/>
            <a:ext cx="1883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1">
                <a:solidFill>
                  <a:srgbClr val="0B3454"/>
                </a:solidFill>
                <a:latin typeface="Aptos"/>
              </a:rPr>
              <a:t>Herencia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651760"/>
            <a:ext cx="4389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52928" y="277063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No necesariamente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651760"/>
            <a:ext cx="4389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42048" y="277063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Sí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154680"/>
            <a:ext cx="2103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3273552"/>
            <a:ext cx="1883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1">
                <a:solidFill>
                  <a:srgbClr val="0B3454"/>
                </a:solidFill>
                <a:latin typeface="Aptos"/>
              </a:rPr>
              <a:t>Lugar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154680"/>
            <a:ext cx="4389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52928" y="327355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Misma clase o relacionadas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3154680"/>
            <a:ext cx="4389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42048" y="327355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Subclase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657600"/>
            <a:ext cx="2103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3776472"/>
            <a:ext cx="1883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1">
                <a:solidFill>
                  <a:srgbClr val="0B3454"/>
                </a:solidFill>
                <a:latin typeface="Aptos"/>
              </a:rPr>
              <a:t>Decisión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657600"/>
            <a:ext cx="4389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52928" y="377647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Compilación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3657600"/>
            <a:ext cx="4389120" cy="502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42048" y="377647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Ejecución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160520"/>
            <a:ext cx="2103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4279392"/>
            <a:ext cx="1883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1">
                <a:solidFill>
                  <a:srgbClr val="0B3454"/>
                </a:solidFill>
                <a:latin typeface="Aptos"/>
              </a:rPr>
              <a:t>Propósito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160520"/>
            <a:ext cx="4389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52928" y="427939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Variantes de una operación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4160520"/>
            <a:ext cx="4389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42048" y="4279392"/>
            <a:ext cx="4169663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20" b="0">
                <a:solidFill>
                  <a:srgbClr val="3D3D3D"/>
                </a:solidFill>
                <a:latin typeface="Aptos"/>
              </a:rPr>
              <a:t>Especializar comportamiento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" y="5074920"/>
            <a:ext cx="9966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05840" y="5074920"/>
            <a:ext cx="73152" cy="7772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07008" y="5193792"/>
            <a:ext cx="9646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🧠 Regla mental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07008" y="5623559"/>
            <a:ext cx="9582912" cy="118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¿Cambian los parámetros? Sobrecarga. ¿Una subclase reemplaza un método heredado? Sobrescritura.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5 · Practiquemos el razonamiento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Primero predecimos, luego ejecutamos y comprobamos.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🧪 Práctica 1: predice la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No ejecutes primero: razona qué método se llamará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43000"/>
            <a:ext cx="5943600" cy="438912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43000"/>
            <a:ext cx="594360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197864"/>
            <a:ext cx="55778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¿Qué imprime?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563624"/>
            <a:ext cx="5596128" cy="3913631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0">
                <a:solidFill>
                  <a:srgbClr val="E8F0F8"/>
                </a:solidFill>
                <a:latin typeface="Consolas"/>
              </a:rPr>
              <a:t>public class Animal {
    public void emitirSonido() {
        System.out.println("Sonido general");
    }
}
public class Perro extends Animal {
    @Override
    public void emitirSonido() {
        System.out.println("Guau");
    }
}
Animal animal = new Perro();
animal.emitirSonido();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417320"/>
            <a:ext cx="3749039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86600" y="1417320"/>
            <a:ext cx="73152" cy="73152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7768" y="1536192"/>
            <a:ext cx="342899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1965960"/>
            <a:ext cx="3364991" cy="731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Sonido general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2331720"/>
            <a:ext cx="3749039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86600" y="2331720"/>
            <a:ext cx="73152" cy="73152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8" y="2450591"/>
            <a:ext cx="342899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2880360"/>
            <a:ext cx="3364991" cy="731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Guau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246120"/>
            <a:ext cx="3749039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3246120"/>
            <a:ext cx="73152" cy="73152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87768" y="3364991"/>
            <a:ext cx="342899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3794759"/>
            <a:ext cx="3364991" cy="731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Error de compilación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63440"/>
            <a:ext cx="38862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 dirty="0">
                <a:solidFill>
                  <a:srgbClr val="0B3454"/>
                </a:solidFill>
                <a:latin typeface="Aptos"/>
              </a:rPr>
              <a:t>Respuesta </a:t>
            </a:r>
            <a:r>
              <a:rPr sz="1700" b="1" dirty="0" err="1">
                <a:solidFill>
                  <a:srgbClr val="0B3454"/>
                </a:solidFill>
                <a:latin typeface="Aptos"/>
              </a:rPr>
              <a:t>esperada</a:t>
            </a:r>
            <a:r>
              <a:rPr sz="1700" b="1" dirty="0">
                <a:solidFill>
                  <a:srgbClr val="0B3454"/>
                </a:solidFill>
                <a:latin typeface="Aptos"/>
              </a:rPr>
              <a:t>: B. La </a:t>
            </a:r>
            <a:r>
              <a:rPr sz="1700" b="1" dirty="0" err="1">
                <a:solidFill>
                  <a:srgbClr val="0B3454"/>
                </a:solidFill>
                <a:latin typeface="Aptos"/>
              </a:rPr>
              <a:t>referencia</a:t>
            </a:r>
            <a:r>
              <a:rPr sz="1700" b="1" dirty="0">
                <a:solidFill>
                  <a:srgbClr val="0B3454"/>
                </a:solidFill>
                <a:latin typeface="Aptos"/>
              </a:rPr>
              <a:t> es Animal, </a:t>
            </a:r>
            <a:r>
              <a:rPr sz="1700" b="1" dirty="0" err="1">
                <a:solidFill>
                  <a:srgbClr val="0B3454"/>
                </a:solidFill>
                <a:latin typeface="Aptos"/>
              </a:rPr>
              <a:t>pero</a:t>
            </a:r>
            <a:r>
              <a:rPr sz="1700" b="1" dirty="0">
                <a:solidFill>
                  <a:srgbClr val="0B345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B3454"/>
                </a:solidFill>
                <a:latin typeface="Aptos"/>
              </a:rPr>
              <a:t>el</a:t>
            </a:r>
            <a:r>
              <a:rPr sz="1700" b="1" dirty="0">
                <a:solidFill>
                  <a:srgbClr val="0B3454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B3454"/>
                </a:solidFill>
                <a:latin typeface="Aptos"/>
              </a:rPr>
              <a:t>objeto</a:t>
            </a:r>
            <a:r>
              <a:rPr sz="1700" b="1" dirty="0">
                <a:solidFill>
                  <a:srgbClr val="0B3454"/>
                </a:solidFill>
                <a:latin typeface="Aptos"/>
              </a:rPr>
              <a:t> real es </a:t>
            </a:r>
            <a:r>
              <a:rPr sz="1700" b="1" dirty="0" err="1">
                <a:solidFill>
                  <a:srgbClr val="0B3454"/>
                </a:solidFill>
                <a:latin typeface="Aptos"/>
              </a:rPr>
              <a:t>Perro</a:t>
            </a:r>
            <a:r>
              <a:rPr sz="1700" b="1" dirty="0">
                <a:solidFill>
                  <a:srgbClr val="0B345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🧪 Práctica 2: clasifica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¿Sobrecarga, sobrescritura o ninguna?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88720"/>
            <a:ext cx="6492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8872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307592"/>
            <a:ext cx="58064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Caso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737360"/>
            <a:ext cx="61081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public void imprimir()
public void imprimir(String titulo)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188720"/>
            <a:ext cx="34747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118872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1307592"/>
            <a:ext cx="315467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 dirty="0">
                <a:solidFill>
                  <a:srgbClr val="0B3454"/>
                </a:solidFill>
                <a:latin typeface="Aptos"/>
              </a:rPr>
              <a:t>Respuesta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1737360"/>
            <a:ext cx="309067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 err="1">
                <a:solidFill>
                  <a:srgbClr val="3D3D3D"/>
                </a:solidFill>
                <a:latin typeface="Aptos"/>
              </a:rPr>
              <a:t>Sobrecarga</a:t>
            </a:r>
            <a:endParaRPr sz="1250" b="0" dirty="0">
              <a:solidFill>
                <a:srgbClr val="3D3D3D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2606040"/>
            <a:ext cx="6492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260604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27157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2724912"/>
            <a:ext cx="58064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Caso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154680"/>
            <a:ext cx="61081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Padre: public void procesar()
Hija: @Override public void procesar()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606040"/>
            <a:ext cx="34747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35240" y="260604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36408" y="2724912"/>
            <a:ext cx="315467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Respuesta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154680"/>
            <a:ext cx="309067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Sobrescritura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023360"/>
            <a:ext cx="6492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" y="402336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1330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4142232"/>
            <a:ext cx="58064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Caso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572000"/>
            <a:ext cx="61081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public int sumar(int a, int b)
public double sumar(int a, int 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4023360"/>
            <a:ext cx="34747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402336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36408" y="4142232"/>
            <a:ext cx="315467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Respuesta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4572000"/>
            <a:ext cx="309067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 err="1">
                <a:solidFill>
                  <a:srgbClr val="3D3D3D"/>
                </a:solidFill>
                <a:latin typeface="Aptos"/>
              </a:rPr>
              <a:t>Ninguna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válida</a:t>
            </a:r>
            <a:endParaRPr sz="1250" b="0" dirty="0">
              <a:solidFill>
                <a:srgbClr val="3D3D3D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B3454"/>
                </a:solidFill>
                <a:latin typeface="Aptos"/>
              </a:rPr>
              <a:t>La clave está en mirar la firma y la relación entre clases.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25" grpId="0" animBg="1"/>
      <p:bldP spid="28" grpId="0"/>
      <p:bldP spid="34" grpId="0" animBg="1"/>
      <p:bldP spid="3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🧭 Ruta mental para resolver problemas de Semana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Diseñar antes de codificar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143000"/>
            <a:ext cx="2514600" cy="777240"/>
          </a:xfrm>
          <a:prstGeom prst="roundRect">
            <a:avLst/>
          </a:prstGeom>
          <a:solidFill>
            <a:srgbClr val="FFB700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37160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1. Leer el caso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14300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37160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2. Identificar entidades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14300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79" y="137160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3. Separar lo común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4300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37160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4. Identificar qué cambia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377440"/>
            <a:ext cx="2514600" cy="777240"/>
          </a:xfrm>
          <a:prstGeom prst="roundRect">
            <a:avLst/>
          </a:prstGeom>
          <a:solidFill>
            <a:srgbClr val="FFB700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60604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5. Diseñar jerarquía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37744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260604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6. Crear clase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37744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79" y="260604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7. Crear subclases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37744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260604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8. Sobrescribir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1188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84048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9. Sobrecargar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611880"/>
            <a:ext cx="2514600" cy="777240"/>
          </a:xfrm>
          <a:prstGeom prst="roundRect">
            <a:avLst/>
          </a:prstGeom>
          <a:solidFill>
            <a:srgbClr val="FFB700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384048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10. Probar en Main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611880"/>
            <a:ext cx="2514600" cy="77724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79" y="384048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11. Revisar salida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611880"/>
            <a:ext cx="2514600" cy="777240"/>
          </a:xfrm>
          <a:prstGeom prst="roundRect">
            <a:avLst/>
          </a:prstGeom>
          <a:solidFill>
            <a:srgbClr val="FFB700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0" y="3840480"/>
            <a:ext cx="23317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80" b="1">
                <a:solidFill>
                  <a:srgbClr val="0B3454"/>
                </a:solidFill>
                <a:latin typeface="Aptos"/>
              </a:rPr>
              <a:t>12. Entregar evidencia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B3454"/>
                </a:solidFill>
                <a:latin typeface="Aptos"/>
              </a:rPr>
              <a:t>No intentes escribir todas las clases de una sola vez. Implementa y compila por etapas.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6 · Ejemplo paralelo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Un caso distinto a SpeedFast para practicar sin resolver la actividad oficial.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📚 Caso paralelo: Biblioteca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Misma habilidad, contexto diferente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14300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000" b="1">
                <a:solidFill>
                  <a:srgbClr val="0B3454"/>
                </a:solidFill>
                <a:latin typeface="Aptos"/>
              </a:rPr>
              <a:t>Problema: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1033272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900" b="0">
                <a:solidFill>
                  <a:srgbClr val="3D3D3D"/>
                </a:solidFill>
                <a:latin typeface="Aptos"/>
              </a:rPr>
              <a:t>Una biblioteca digital administra distintos tipos de publicaciones. Todas pueden mostrar su formato, pero un libro digital y una revista digital no se describen igual.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77977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Clase base: Publicacion.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19125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Subclases: LibroDigital y RevistaDigital.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60273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Método sobrescrito: mostrarFormato().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01421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Método sobrecargado en un gestor: mostrarDetalle().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42569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Main debe crear objetos y mostrar la diferencia.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40680"/>
            <a:ext cx="10149840" cy="685800"/>
          </a:xfrm>
          <a:prstGeom prst="roundRect">
            <a:avLst/>
          </a:prstGeom>
          <a:solidFill>
            <a:srgbClr val="FFFBF2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5440680"/>
            <a:ext cx="73152" cy="6858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5559552"/>
            <a:ext cx="98298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🚨 Importante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60" y="5893308"/>
            <a:ext cx="9765792" cy="274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>
                <a:solidFill>
                  <a:srgbClr val="3D3D3D"/>
                </a:solidFill>
                <a:latin typeface="Aptos"/>
              </a:rPr>
              <a:t>Este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ejemplo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no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corresponde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a la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actividad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oficial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.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Sirve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para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aprender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la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estructura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de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pensamiento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💻 Clase base del ejemplo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Publicacion.java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43000"/>
            <a:ext cx="5669280" cy="466344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43000"/>
            <a:ext cx="566928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197864"/>
            <a:ext cx="53035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Publicacion.java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563624"/>
            <a:ext cx="5321808" cy="418795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80" b="0">
                <a:solidFill>
                  <a:srgbClr val="E8F0F8"/>
                </a:solidFill>
                <a:latin typeface="Consolas"/>
              </a:rPr>
              <a:t>public class Publicacion {
    private String titulo;
    public Publicacion(String titulo) {
        this.titulo = titulo;
    }
    public String getTitulo() {
        return titulo;
    }
    public void mostrarFormato() {
        System.out.println("Formato general de publicación.");
  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41732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08176"/>
            <a:ext cx="40690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titulo queda encapsulado.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8288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19656"/>
            <a:ext cx="40690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El constructor inicializa el dato común.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402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231136"/>
            <a:ext cx="40690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mostrarFormato() entrega comportamiento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65176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642616"/>
            <a:ext cx="406908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Las subclases podrán sobrescribirlo.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💻 Subclases del ejemplo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LibroDigital y RevistaDigital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051560"/>
            <a:ext cx="6400800" cy="530352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640080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106424"/>
            <a:ext cx="60350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Subclases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472184"/>
            <a:ext cx="6053328" cy="4828031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980" b="0">
                <a:solidFill>
                  <a:srgbClr val="E8F0F8"/>
                </a:solidFill>
                <a:latin typeface="Consolas"/>
              </a:rPr>
              <a:t>public class LibroDigital extends Publicacion {
    public LibroDigital(String titulo) {
        super(titulo);
    }
    @Override
    public void mostrarFormato() {
        System.out.println(getTitulo() + 
            " está disponible como libro digital.");
    }
}
public class RevistaDigital extends Publicacion {
    public RevistaDigital(String titulo) {
        super(titulo);
    }
    @Override
    public void mostrarFormato() {
        System.out.println(getTitulo() + 
            " está disponible como revista digital.");
    }
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280160"/>
            <a:ext cx="3931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1280160"/>
            <a:ext cx="73152" cy="10972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9792" y="13898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1399031"/>
            <a:ext cx="32461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se reutiliza?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1828800"/>
            <a:ext cx="354787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El atributo título, el constructor base y el método getTitulo().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697480"/>
            <a:ext cx="3931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2697480"/>
            <a:ext cx="73152" cy="109728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28072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816352"/>
            <a:ext cx="32461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cambia?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246120"/>
            <a:ext cx="354787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forma de mostrar el formato según el tipo de publicación.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4114800"/>
            <a:ext cx="39319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0" y="4114800"/>
            <a:ext cx="73152" cy="12344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9792" y="42245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4233672"/>
            <a:ext cx="32461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¿Dónde hay polimorfismo?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663440"/>
            <a:ext cx="354787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Cuando Main trata objetos distintos como Publicacion y ejecuta mostrarFormato().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🖥️ Main del ejemplo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Creamos objetos y evidenciamos el comportamiento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43000"/>
            <a:ext cx="5669280" cy="292608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43000"/>
            <a:ext cx="566928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197864"/>
            <a:ext cx="53035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Main.java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563624"/>
            <a:ext cx="5321808" cy="245059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350" b="0">
                <a:solidFill>
                  <a:srgbClr val="E8F0F8"/>
                </a:solidFill>
                <a:latin typeface="Consolas"/>
              </a:rPr>
              <a:t>public class Main {
    public static void main(String[] args) {
        Publicacion p1 = new LibroDigital("Programación Java");
        Publicacion p2 = new RevistaDigital("Tecnología Hoy");
        p1.mostrarFormato();
        p2.mostrarFormato();
    }
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5669280" cy="1280160"/>
          </a:xfrm>
          <a:prstGeom prst="roundRect">
            <a:avLst/>
          </a:prstGeom>
          <a:solidFill>
            <a:srgbClr val="0A0D10"/>
          </a:solidFill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669280" cy="320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43983"/>
            <a:ext cx="53035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C8C8C8"/>
                </a:solidFill>
                <a:latin typeface="Aptos"/>
              </a:rPr>
              <a:t>Consola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818888"/>
            <a:ext cx="5285232" cy="777239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80" b="0">
                <a:solidFill>
                  <a:srgbClr val="C6F6D5"/>
                </a:solidFill>
                <a:latin typeface="Consolas"/>
              </a:rPr>
              <a:t>Programación Java está disponible como libro digital.
Tecnología Hoy está disponible como revista digital.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417320"/>
            <a:ext cx="4389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66560" y="1417320"/>
            <a:ext cx="73152" cy="12801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527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1536192"/>
            <a:ext cx="37033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Conclusión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1965960"/>
            <a:ext cx="4005072" cy="6217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clase base permite tratar publicaciones de forma uniforme; cada objeto concreto ejecuta su propia versión.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063240"/>
            <a:ext cx="4389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66560" y="3063240"/>
            <a:ext cx="73152" cy="13716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2" y="31729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182112"/>
            <a:ext cx="37033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Transferencia a SpeedFast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611880"/>
            <a:ext cx="4005072" cy="7132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actividad oficial exige una lógica similar: clases derivadas que responden distinto frente a una operación común.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🚨 Del ejemplo paralelo a la actividad oficial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Aprender la lógica, no copiar el dominio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234440"/>
            <a:ext cx="49377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234440"/>
            <a:ext cx="73152" cy="164592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35331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Lo que puedes tomar del ejemplo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783080"/>
            <a:ext cx="4553712" cy="9875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forma de pensar: clase base, subclases, método común, sobrescritura, prueba desde 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34440"/>
            <a:ext cx="49377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73152" cy="164592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35331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Lo que NO debes hacer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783080"/>
            <a:ext cx="4553712" cy="9875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Entregar Biblioteca Digital cuando la actividad pide SpeedFast, ni cambiar los nombres oficiales solicitados.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29000"/>
            <a:ext cx="10332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3429000"/>
            <a:ext cx="73152" cy="10515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5387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547872"/>
            <a:ext cx="9646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La actividad oficial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77639"/>
            <a:ext cx="9948672" cy="393191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Trabaja con Pedido, PedidoComida, PedidoEncomienda, PedidoExpress y asignarRepartidor().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0B3454"/>
                </a:solidFill>
                <a:latin typeface="Aptos"/>
              </a:rPr>
              <a:t>La evidencia debe corresponder al caso oficial del AVA.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7 · Actividad Formativa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SpeedFast: sobrecarga y sobrescritura en clases derivadas.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🚀 Actividad Formativa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Explorando la sobrecarga y sobrescritura en clases derivadas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2918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307592"/>
            <a:ext cx="26060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Modalidad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737360"/>
            <a:ext cx="2907792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Individual · Formativa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18872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1188720"/>
            <a:ext cx="73152" cy="10058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1307592"/>
            <a:ext cx="2788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Entrega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1737360"/>
            <a:ext cx="3090672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AVA · proyecto comprimido + enlace 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188720"/>
            <a:ext cx="3017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1040" y="1188720"/>
            <a:ext cx="73152" cy="100584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85632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1307592"/>
            <a:ext cx="23317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Vencimiento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1737360"/>
            <a:ext cx="2633472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Lunes 17 de agosto de 2026 · 23:59 hrs.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743200"/>
            <a:ext cx="420624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400" b="1">
                <a:solidFill>
                  <a:srgbClr val="0B3454"/>
                </a:solidFill>
                <a:latin typeface="Aptos"/>
              </a:rPr>
              <a:t>Caso oficial: SpeedFast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004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50" b="0">
                <a:solidFill>
                  <a:srgbClr val="3D3D3D"/>
                </a:solidFill>
                <a:latin typeface="Aptos"/>
              </a:rPr>
              <a:t>Empresa de reparto a domicilio con tres tipos de servicio: comida, encomiendas y compras express. Cada tipo tiene reglas diferentes para asignar repartidor.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892040"/>
            <a:ext cx="100584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" y="4892040"/>
            <a:ext cx="73152" cy="7772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" y="50017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5010912"/>
            <a:ext cx="9372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Objetivo técnico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440679"/>
            <a:ext cx="9674352" cy="118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Definir una jerarquía Java y aplicar polimorfismo mediante métodos sobrescritos y sobrecargados.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🚚 SpeedFast: reglas del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Cada tipo de pedido exige una lógica diferente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325880"/>
            <a:ext cx="34747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325880"/>
            <a:ext cx="73152" cy="12801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4356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444752"/>
            <a:ext cx="2788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PedidoComida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874519"/>
            <a:ext cx="3090672" cy="6217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Requiere repartidor con mochila térmica.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325880"/>
            <a:ext cx="34747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1325880"/>
            <a:ext cx="73152" cy="128016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14356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1444752"/>
            <a:ext cx="2788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PedidoEncomienda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1874519"/>
            <a:ext cx="3090672" cy="6217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Requiere validación de peso y embalaje.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325880"/>
            <a:ext cx="34747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1325880"/>
            <a:ext cx="73152" cy="128016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14356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1444752"/>
            <a:ext cx="27889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PedidoExpress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874519"/>
            <a:ext cx="3090672" cy="6217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Debe asignarse al repartidor más cercano con disponibilidad inmediata.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290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B3454"/>
                </a:solidFill>
                <a:latin typeface="Aptos"/>
              </a:rPr>
              <a:t>Operación común: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3246120"/>
            <a:ext cx="3291840" cy="68580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0" y="3355848"/>
            <a:ext cx="2944368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900" b="0">
                <a:solidFill>
                  <a:srgbClr val="E8F0F8"/>
                </a:solidFill>
                <a:latin typeface="Consolas"/>
              </a:rPr>
              <a:t>asignarRepartidor()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429000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pero el comportamiento cambia según el objeto concreto.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09160"/>
            <a:ext cx="100584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4709160"/>
            <a:ext cx="73152" cy="7772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4828032"/>
            <a:ext cx="97383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💡 Esta es la oportunidad de demostrar polimorfismo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257800"/>
            <a:ext cx="9674352" cy="118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Mismo método, distinta lógica según el tipo de pedido.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📦 Estructura solicitada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Clases y relación de herencia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1188720"/>
            <a:ext cx="2926080" cy="685800"/>
          </a:xfrm>
          <a:prstGeom prst="roundRect">
            <a:avLst/>
          </a:prstGeom>
          <a:solidFill>
            <a:srgbClr val="0B3454"/>
          </a:solidFill>
          <a:ln w="19050">
            <a:solidFill>
              <a:srgbClr val="0B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353312"/>
            <a:ext cx="28346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Pedido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874519"/>
            <a:ext cx="18288" cy="36576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2743200"/>
            <a:ext cx="301752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28346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500" b="1">
                <a:solidFill>
                  <a:srgbClr val="0B3454"/>
                </a:solidFill>
                <a:latin typeface="Aptos"/>
              </a:rPr>
              <a:t>PedidoComida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74519"/>
            <a:ext cx="18288" cy="36576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79" y="2743200"/>
            <a:ext cx="301752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19" y="2944368"/>
            <a:ext cx="28346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500" b="1">
                <a:solidFill>
                  <a:srgbClr val="0B3454"/>
                </a:solidFill>
                <a:latin typeface="Aptos"/>
              </a:rPr>
              <a:t>PedidoEncomienda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1874519"/>
            <a:ext cx="18288" cy="36576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03919" y="2743200"/>
            <a:ext cx="301752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59" y="2944368"/>
            <a:ext cx="28346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500" b="1">
                <a:solidFill>
                  <a:srgbClr val="0B3454"/>
                </a:solidFill>
                <a:latin typeface="Aptos"/>
              </a:rPr>
              <a:t>PedidoExpress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240280"/>
            <a:ext cx="6629400" cy="27432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14600" y="2240280"/>
            <a:ext cx="27432" cy="50292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06440" y="2240280"/>
            <a:ext cx="27432" cy="50292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0" y="2240280"/>
            <a:ext cx="27432" cy="50292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151376"/>
            <a:ext cx="9372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Pedido debe tener idPedido, direccionEntrega y tipoPedido.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0799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498848"/>
            <a:ext cx="9372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Pedido contiene asignarRepartidor() genérico.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5546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846320"/>
            <a:ext cx="9372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Las tres subclases sobrescriben el método.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0293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193792"/>
            <a:ext cx="9372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La jerarquía debe ejecutarse desde Main.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⚙️ Métodos solicitados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Sobrescritura + sobrecarga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887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88720"/>
            <a:ext cx="73152" cy="118872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307592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 dirty="0">
                <a:solidFill>
                  <a:srgbClr val="0B3454"/>
                </a:solidFill>
                <a:latin typeface="Aptos"/>
              </a:rPr>
              <a:t>1. </a:t>
            </a:r>
            <a:r>
              <a:rPr sz="1650" b="1" dirty="0" err="1">
                <a:solidFill>
                  <a:srgbClr val="0B3454"/>
                </a:solidFill>
                <a:latin typeface="Aptos"/>
              </a:rPr>
              <a:t>Método</a:t>
            </a:r>
            <a:r>
              <a:rPr sz="1650" b="1" dirty="0">
                <a:solidFill>
                  <a:srgbClr val="0B3454"/>
                </a:solidFill>
                <a:latin typeface="Aptos"/>
              </a:rPr>
              <a:t> base </a:t>
            </a:r>
            <a:r>
              <a:rPr sz="1650" b="1" dirty="0" err="1">
                <a:solidFill>
                  <a:srgbClr val="0B3454"/>
                </a:solidFill>
                <a:latin typeface="Aptos"/>
              </a:rPr>
              <a:t>genérico</a:t>
            </a:r>
            <a:endParaRPr sz="1650" b="1" dirty="0">
              <a:solidFill>
                <a:srgbClr val="0B345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4128" y="1737360"/>
            <a:ext cx="4645152" cy="5303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Pedido define asignarRepartidor() con un mensaje básico.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73152" cy="118872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307592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2. Sobrescritura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737360"/>
            <a:ext cx="4645152" cy="5303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Cada subclase redefine asignarRepartidor() con su lógica propia.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7889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2788920"/>
            <a:ext cx="73152" cy="1188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28986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2907791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3. Sobrecarga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37560"/>
            <a:ext cx="4645152" cy="5303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Implementa asignarRepartidor(String nombreRepartidor).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88920"/>
            <a:ext cx="5029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788920"/>
            <a:ext cx="73152" cy="118872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28986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2907791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4. Prueba desde 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337560"/>
            <a:ext cx="4645152" cy="5303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Instancia al menos un objeto de cada subclase y llama ambas versiones.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83480"/>
            <a:ext cx="1014984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200" b="1">
                <a:solidFill>
                  <a:srgbClr val="0B3454"/>
                </a:solidFill>
                <a:latin typeface="Aptos"/>
              </a:rPr>
              <a:t>La pauta no evalúa solo existencia de métodos. Debe verse que funcionan.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🖥️ ¿Qué debe demostrar Main?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La consola será la primera evidencia de funcionamiento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23444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22529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Crear al menos un objeto de PedidoComida.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2763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1618488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Crear al menos un objeto de PedidoEncomienda.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02082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011680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Crear al menos un objeto de PedidoExpress.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1401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404872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Ejecutar asignarRepartidor() en cada caso.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07208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2798064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Ejecutar asignarRepartidor(String nombreRepartidor).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004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19125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50" b="0">
                <a:solidFill>
                  <a:srgbClr val="3D3D3D"/>
                </a:solidFill>
                <a:latin typeface="Aptos"/>
              </a:rPr>
              <a:t>Mostrar mensajes claros que permitan distinguir los comportamientos.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1325880"/>
            <a:ext cx="4389120" cy="1828800"/>
          </a:xfrm>
          <a:prstGeom prst="roundRect">
            <a:avLst/>
          </a:prstGeom>
          <a:solidFill>
            <a:srgbClr val="0A0D10"/>
          </a:solidFill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20840" y="1325880"/>
            <a:ext cx="4389120" cy="320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1380744"/>
            <a:ext cx="4023359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C8C8C8"/>
                </a:solidFill>
                <a:latin typeface="Aptos"/>
              </a:rPr>
              <a:t>Consola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1755648"/>
            <a:ext cx="4005072" cy="1325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150" b="0">
                <a:solidFill>
                  <a:srgbClr val="C6F6D5"/>
                </a:solidFill>
                <a:latin typeface="Consolas"/>
              </a:rPr>
              <a:t>[Pedido Comida]
Asignando repartidor...
→ Verificando mochila térmica... OK
→ Pedido asignado a Juan Pérez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520440"/>
            <a:ext cx="43891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20840" y="3520440"/>
            <a:ext cx="73152" cy="10515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85431" y="3630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3639312"/>
            <a:ext cx="37033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Importante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7" y="4069080"/>
            <a:ext cx="4005072" cy="393191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El ejemplo de salida es referencial. Lo central es que la ejecución evidencie diferencias por tipo de pedido.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🗂️ Estructura sugerida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Sencilla, clara y compatible con la actividad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280160"/>
            <a:ext cx="5029200" cy="246888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1280160"/>
            <a:ext cx="502920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335024"/>
            <a:ext cx="466344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Estructura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700784"/>
            <a:ext cx="4681728" cy="199339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600" b="0">
                <a:solidFill>
                  <a:srgbClr val="E8F0F8"/>
                </a:solidFill>
                <a:latin typeface="Consolas"/>
              </a:rPr>
              <a:t>PRY2203_Semana1/
│
└── src/
    ├── Main.java
    ├── Pedido.java
    ├── PedidoComida.java
    ├── PedidoEncomienda.java
    └── PedidoExpress.java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79" y="1408176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La estructura puede variar si mantienes organización clara.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1051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 dirty="0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1801368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No mezcles varios proyectos dentro del mismo ZIP.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0370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194560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 dirty="0">
                <a:solidFill>
                  <a:srgbClr val="3D3D3D"/>
                </a:solidFill>
                <a:latin typeface="Aptos"/>
              </a:rPr>
              <a:t>No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entregues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solo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archivos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sueltos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si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proyecto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 no </a:t>
            </a:r>
            <a:r>
              <a:rPr sz="1700" b="0" dirty="0" err="1">
                <a:solidFill>
                  <a:srgbClr val="3D3D3D"/>
                </a:solidFill>
                <a:latin typeface="Aptos"/>
              </a:rPr>
              <a:t>compila</a:t>
            </a:r>
            <a:r>
              <a:rPr sz="1700" b="0" dirty="0">
                <a:solidFill>
                  <a:srgbClr val="3D3D3D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9689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2587752"/>
            <a:ext cx="42519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Verifica que se pueda abrir en IntelliJ.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34840"/>
            <a:ext cx="100584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4434840"/>
            <a:ext cx="73152" cy="8686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4553712"/>
            <a:ext cx="97383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Recomendación docente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983479"/>
            <a:ext cx="9674352" cy="210311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Puedes organizar paquetes si ya lo manejas, pero no cambies los nombres obligatorios ni compliques la entrega sin necesidad.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🧭 Ruta sugerida para desarrollar SpeedFast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Orientación para construir sin perderse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31673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1. Leer instrucciones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09728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31673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2. Leer pauta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09728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131673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3. Crear proyecto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09728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8" y="131673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4. Diseñar Pedido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3172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55117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5. Probar Pedido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33172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38728" y="255117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6. Crear 1 subclase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33172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255117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7. Probar override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33172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08008" y="255117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8. Crear otras subclases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56616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378561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9. Agregar overload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56616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38728" y="378561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10. Probar Main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56616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3368" y="378561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11. GitHub + ZIP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566160"/>
            <a:ext cx="2514600" cy="73152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08008" y="3785616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160" b="1">
                <a:solidFill>
                  <a:srgbClr val="0B3454"/>
                </a:solidFill>
                <a:latin typeface="Aptos"/>
              </a:rPr>
              <a:t>12. Entregar AVA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166360"/>
            <a:ext cx="100584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" y="5166360"/>
            <a:ext cx="73152" cy="73152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" y="52760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81328" y="5285232"/>
            <a:ext cx="9372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Consejo del profe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5715000"/>
            <a:ext cx="9674352" cy="731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Compila después de cada bloque importante. Encontrar un error pequeño a tiempo evita reconstruir todo el proyecto.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8 · Git y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Publicar el proyecto no es el último paso: es parte del desarrollo.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🛠️ Ambiente de trabajo para Semana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Lo necesario ahora y lo que dejaremos preparado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188720"/>
            <a:ext cx="3291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188720"/>
            <a:ext cx="73152" cy="9601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307592"/>
            <a:ext cx="26060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737360"/>
            <a:ext cx="2907792" cy="3017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JDK 21 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188720"/>
            <a:ext cx="3291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1188720"/>
            <a:ext cx="73152" cy="96012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1307592"/>
            <a:ext cx="26060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1737360"/>
            <a:ext cx="2907792" cy="3017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IntelliJ IDEA Community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188720"/>
            <a:ext cx="3291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1188720"/>
            <a:ext cx="73152" cy="96012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12984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1307592"/>
            <a:ext cx="26060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Versionado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737360"/>
            <a:ext cx="2907792" cy="3017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Git + 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743200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0B3454"/>
                </a:solidFill>
                <a:latin typeface="Aptos"/>
              </a:rPr>
              <a:t>Para Semana 1 NO necesitamos MySQL.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4290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41985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MySQL aparecerá más adelante en la Experiencia 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84048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83133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Hoy el foco técnico es Java + IntelliJ + Git/GitHub.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25196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42816"/>
            <a:ext cx="928116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3D3D3D"/>
                </a:solidFill>
                <a:latin typeface="Aptos"/>
              </a:rPr>
              <a:t>Aun así, es buena idea validar el ambiente completo con la guía base.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257800"/>
            <a:ext cx="10058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" y="5257800"/>
            <a:ext cx="73152" cy="6858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53675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⚠️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376672"/>
            <a:ext cx="9372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Regla práctica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5806440"/>
            <a:ext cx="9674352" cy="274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No esperes al día de entrega para descubrir que Git no está configurado.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🌿 Git ≠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Dos herramientas conectadas, pero no iguales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417320"/>
            <a:ext cx="4754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1417320"/>
            <a:ext cx="73152" cy="14630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1527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536192"/>
            <a:ext cx="4069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965960"/>
            <a:ext cx="4370832" cy="8046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Sistema de control de versiones. Registra cambios en tu computador mediante commits.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754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73152" cy="1463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1527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536192"/>
            <a:ext cx="4069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1965960"/>
            <a:ext cx="4370832" cy="8046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Plataforma en línea para alojar el repositorio y compartir el proyecto mediante un enlace.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0B3454"/>
                </a:solidFill>
                <a:latin typeface="Aptos"/>
              </a:rPr>
              <a:t>Flujo básico: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343400"/>
            <a:ext cx="1508760" cy="640080"/>
          </a:xfrm>
          <a:prstGeom prst="roundRect">
            <a:avLst/>
          </a:prstGeom>
          <a:solidFill>
            <a:srgbClr val="FFB700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535424"/>
            <a:ext cx="1417320" cy="20116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0B3454"/>
                </a:solidFill>
                <a:latin typeface="Aptos"/>
              </a:rPr>
              <a:t>Programar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514600" y="4517136"/>
            <a:ext cx="411480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063240" y="4343400"/>
            <a:ext cx="1508760" cy="6400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0" y="4535424"/>
            <a:ext cx="1417320" cy="20116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0B3454"/>
                </a:solidFill>
                <a:latin typeface="Aptos"/>
              </a:rPr>
              <a:t>Commit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572000" y="4517136"/>
            <a:ext cx="411480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20640" y="4343400"/>
            <a:ext cx="1508760" cy="6400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66359" y="4535424"/>
            <a:ext cx="1417320" cy="20116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0B3454"/>
                </a:solidFill>
                <a:latin typeface="Aptos"/>
              </a:rPr>
              <a:t>Push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629400" y="4517136"/>
            <a:ext cx="411480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178040" y="4343400"/>
            <a:ext cx="1508760" cy="6400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59" y="4535424"/>
            <a:ext cx="1417320" cy="20116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0B3454"/>
                </a:solidFill>
                <a:latin typeface="Aptos"/>
              </a:rPr>
              <a:t>GitHub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686800" y="4517136"/>
            <a:ext cx="411480" cy="256032"/>
          </a:xfrm>
          <a:prstGeom prst="rightArrow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35440" y="4343400"/>
            <a:ext cx="1508760" cy="6400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0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60" y="4535424"/>
            <a:ext cx="1417320" cy="20116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50" b="1">
                <a:solidFill>
                  <a:srgbClr val="0B3454"/>
                </a:solidFill>
                <a:latin typeface="Aptos"/>
              </a:rPr>
              <a:t>AVA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🔁 Commit no es lo mismo que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Este error aparece mucho en entregas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234440"/>
            <a:ext cx="4754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1234440"/>
            <a:ext cx="73152" cy="13258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353312"/>
            <a:ext cx="4069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783080"/>
            <a:ext cx="4370832" cy="6675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Guarda un punto de control local en tu computador.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34440"/>
            <a:ext cx="4754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234440"/>
            <a:ext cx="73152" cy="132588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353312"/>
            <a:ext cx="4069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1783080"/>
            <a:ext cx="4370832" cy="6675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Envía tus commits a GitHub para que puedan ser revisados.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246120"/>
            <a:ext cx="4754880" cy="1645920"/>
          </a:xfrm>
          <a:prstGeom prst="roundRect">
            <a:avLst/>
          </a:prstGeom>
          <a:solidFill>
            <a:srgbClr val="151F2B"/>
          </a:solidFill>
          <a:ln w="19050">
            <a:solidFill>
              <a:srgbClr val="2B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3246120"/>
            <a:ext cx="4754880" cy="3200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3300984"/>
            <a:ext cx="4389120" cy="228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Comandos útiles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66744"/>
            <a:ext cx="4407408" cy="1170432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600" b="0">
                <a:solidFill>
                  <a:srgbClr val="E8F0F8"/>
                </a:solidFill>
                <a:latin typeface="Consolas"/>
              </a:rPr>
              <a:t>git status
git add .
git commit -m "Implementada sobrescritura"
git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328416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Si solo hiciste commit, puede estar solo en tu computador.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3075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⚠️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721608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Si falta push, GitHub no tendrá la última versión.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2394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114800"/>
            <a:ext cx="43434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Antes de entregar, abre GitHub y verifica el último commit.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💻 Publicar desde IntelliJ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Ruta recomendada para esta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1430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133856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Abrir el proyecto en IntelliJ.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9047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481328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Comprobar que compile y ejecute.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37943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828799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Activar Git: VCS → Enable Version Control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185415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176272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Hacer commit inicial con mensaje claro.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532887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523744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Share Project on GitHub.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880359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871215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Crear repositorio público.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27831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18687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Realizar Push.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75303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3D3D3D"/>
                </a:solidFill>
                <a:latin typeface="Aptos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566159"/>
            <a:ext cx="534924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0">
                <a:solidFill>
                  <a:srgbClr val="3D3D3D"/>
                </a:solidFill>
                <a:latin typeface="Aptos"/>
              </a:rPr>
              <a:t>Abrir GitHub y probar el enlace.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1325880"/>
            <a:ext cx="4434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20840" y="1325880"/>
            <a:ext cx="73152" cy="123444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85431" y="14356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1444752"/>
            <a:ext cx="374903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Repositorio público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7" y="1874519"/>
            <a:ext cx="4050791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Si la actividad solicita repositorio público, la opción Private debe quedar desmarcada.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2926080"/>
            <a:ext cx="44348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720840" y="2926080"/>
            <a:ext cx="73152" cy="10058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85431" y="30358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3044952"/>
            <a:ext cx="374903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Nombre recomendado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7" y="3474720"/>
            <a:ext cx="4050791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PRY2203-Semana01-NombreApellido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4297680"/>
            <a:ext cx="4434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720840" y="4297680"/>
            <a:ext cx="73152" cy="12344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85431" y="44074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416552"/>
            <a:ext cx="3749039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Prueba final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7" y="4846320"/>
            <a:ext cx="4050791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Abrir el enlace en ventana incógnita. Si no se ve, probablemente está privado o el enlace está mal.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⚠️ Errores frecuentes con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Evítalos antes de entregar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23444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225296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Repositorio privado.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18488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1609344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Enlace al perfil en vez del repositorio.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00253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1993392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Repositorio vacío.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8658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377440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Proyecto incompleto o sin carpeta src.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7063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2761488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Cambios locales sin push.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79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145536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Un único commit final llamado “todo”.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38727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529584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Credenciales o contraseñas subidas por error.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2277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3913632"/>
            <a:ext cx="5532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00" b="0">
                <a:solidFill>
                  <a:srgbClr val="3D3D3D"/>
                </a:solidFill>
                <a:latin typeface="Aptos"/>
              </a:rPr>
              <a:t>ZIP distinto a la versión publicada en GitHub.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1508760"/>
            <a:ext cx="3931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95160" y="1508760"/>
            <a:ext cx="73152" cy="10972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59752" y="16184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1627631"/>
            <a:ext cx="32461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Regla de oro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2057400"/>
            <a:ext cx="354787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Si solo existe en tu computador, todavía no está publicado en GitHub.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2971800"/>
            <a:ext cx="3931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95160" y="2971800"/>
            <a:ext cx="73152" cy="109728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59752" y="30815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3090672"/>
            <a:ext cx="32461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Entrega oficial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8" y="3520440"/>
            <a:ext cx="354787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GitHub apoya la revisión, pero la entrega se realiza según lo indicado en AVA.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4434840"/>
            <a:ext cx="3931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995160" y="4434840"/>
            <a:ext cx="73152" cy="109728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9752" y="45445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8" y="4553712"/>
            <a:ext cx="32461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Seguridad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8" y="4983479"/>
            <a:ext cx="3547872" cy="43891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Nunca subas contraseñas, tokens ni credenciales reales.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9 · Pauta y rúbrica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La rúbrica se revisa antes, durante y después del desarrollo.</a:t>
            </a:r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47472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📊 Niveles oficiales de logro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Mantendremos la misma nomenclatura de la pauta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2011680" cy="310896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2E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600" b="1">
                <a:solidFill>
                  <a:srgbClr val="2EA84F"/>
                </a:solidFill>
                <a:latin typeface="Aptos"/>
              </a:rPr>
              <a:t>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0B3454"/>
                </a:solidFill>
                <a:latin typeface="Apto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51760"/>
            <a:ext cx="173736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30" b="1">
                <a:solidFill>
                  <a:srgbClr val="0B3454"/>
                </a:solidFill>
                <a:latin typeface="Aptos"/>
              </a:rPr>
              <a:t>Completamente Logrado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46120"/>
            <a:ext cx="169164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70" b="0">
                <a:solidFill>
                  <a:srgbClr val="3D3D3D"/>
                </a:solidFill>
                <a:latin typeface="Aptos"/>
              </a:rPr>
              <a:t>Logro completo del manejo del indicador.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417320"/>
            <a:ext cx="2011680" cy="310896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7AB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169164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600" b="1">
                <a:solidFill>
                  <a:srgbClr val="7AB854"/>
                </a:solidFill>
                <a:latin typeface="Aptos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1488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0B3454"/>
                </a:solidFill>
                <a:latin typeface="Aptos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2651760"/>
            <a:ext cx="173736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30" b="1">
                <a:solidFill>
                  <a:srgbClr val="0B3454"/>
                </a:solidFill>
                <a:latin typeface="Aptos"/>
              </a:rPr>
              <a:t>Logrado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246120"/>
            <a:ext cx="169164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70" b="0">
                <a:solidFill>
                  <a:srgbClr val="3D3D3D"/>
                </a:solidFill>
                <a:latin typeface="Aptos"/>
              </a:rPr>
              <a:t>Logro del indicador con pequeñas dificultades.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1417320"/>
            <a:ext cx="2011680" cy="310896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4959" y="169164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600" b="1">
                <a:solidFill>
                  <a:srgbClr val="FFB700"/>
                </a:solidFill>
                <a:latin typeface="Aptos"/>
              </a:rPr>
              <a:t>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21488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0B3454"/>
                </a:solidFill>
                <a:latin typeface="Aptos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651760"/>
            <a:ext cx="173736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30" b="1">
                <a:solidFill>
                  <a:srgbClr val="0B3454"/>
                </a:solidFill>
                <a:latin typeface="Aptos"/>
              </a:rPr>
              <a:t>Medianamente Logrado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3246120"/>
            <a:ext cx="169164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70" b="0">
                <a:solidFill>
                  <a:srgbClr val="3D3D3D"/>
                </a:solidFill>
                <a:latin typeface="Aptos"/>
              </a:rPr>
              <a:t>Logro mínimo aceptable para ser competente.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417320"/>
            <a:ext cx="2011680" cy="310896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F27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0" y="169164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600" b="1">
                <a:solidFill>
                  <a:srgbClr val="F27B28"/>
                </a:solidFill>
                <a:latin typeface="Aptos"/>
              </a:rPr>
              <a:t>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1488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0B3454"/>
                </a:solidFill>
                <a:latin typeface="Aptos"/>
              </a:rP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651760"/>
            <a:ext cx="173736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30" b="1">
                <a:solidFill>
                  <a:srgbClr val="0B3454"/>
                </a:solidFill>
                <a:latin typeface="Aptos"/>
              </a:rPr>
              <a:t>Logro Insuficiente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3246120"/>
            <a:ext cx="169164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70" b="0">
                <a:solidFill>
                  <a:srgbClr val="3D3D3D"/>
                </a:solidFill>
                <a:latin typeface="Aptos"/>
              </a:rPr>
              <a:t>Dificultades que impiden el logro mínimo.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1417320"/>
            <a:ext cx="2011680" cy="310896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D6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169164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600" b="1">
                <a:solidFill>
                  <a:srgbClr val="D62D20"/>
                </a:solidFill>
                <a:latin typeface="Aptos"/>
              </a:rPr>
              <a:t>NL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1488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600" b="1">
                <a:solidFill>
                  <a:srgbClr val="0B3454"/>
                </a:solidFill>
                <a:latin typeface="Aptos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651760"/>
            <a:ext cx="173736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230" b="1">
                <a:solidFill>
                  <a:srgbClr val="0B3454"/>
                </a:solidFill>
                <a:latin typeface="Aptos"/>
              </a:rPr>
              <a:t>No Logrado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3246120"/>
            <a:ext cx="1691640" cy="777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070" b="0">
                <a:solidFill>
                  <a:srgbClr val="3D3D3D"/>
                </a:solidFill>
                <a:latin typeface="Aptos"/>
              </a:rPr>
              <a:t>Escaso, nulo o incorrecto logro.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257800"/>
            <a:ext cx="10424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8680" y="5257800"/>
            <a:ext cx="73152" cy="7315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9848" y="5376672"/>
            <a:ext cx="1010412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📌 Importante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5806440"/>
            <a:ext cx="10040112" cy="731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actividad es formativa, pero la pauta se usa para orientar la calidad técnica y la retroalimentación.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📊 Los 7 criterios de la pauta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Qué observará la revisión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097280"/>
            <a:ext cx="4937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097280"/>
            <a:ext cx="73152" cy="8229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12070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2161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Criterio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45919"/>
            <a:ext cx="4553712" cy="1645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Clase base y encapsulamiento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097280"/>
            <a:ext cx="4937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097280"/>
            <a:ext cx="73152" cy="8229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1207007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2161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Criterio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645919"/>
            <a:ext cx="4553712" cy="1645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Método base genérico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240280"/>
            <a:ext cx="4937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2240280"/>
            <a:ext cx="73152" cy="8229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23591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Criterio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2788920"/>
            <a:ext cx="4553712" cy="1645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Subclases y sobrescritura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240280"/>
            <a:ext cx="4937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2240280"/>
            <a:ext cx="73152" cy="82296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3591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Criterio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2788920"/>
            <a:ext cx="4553712" cy="1645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Sobrecarga del método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383280"/>
            <a:ext cx="4937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" y="3383280"/>
            <a:ext cx="73152" cy="82296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" y="3493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35021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Criterio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3931920"/>
            <a:ext cx="4553712" cy="1645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Main y polimorfismo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383280"/>
            <a:ext cx="4937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383280"/>
            <a:ext cx="73152" cy="82296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3493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35021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Criterio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3931920"/>
            <a:ext cx="4553712" cy="1645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Salida por consola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526280"/>
            <a:ext cx="4937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" y="4526280"/>
            <a:ext cx="73152" cy="82296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7552" y="4636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88" y="4645152"/>
            <a:ext cx="425196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Criterio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" y="5074920"/>
            <a:ext cx="4553712" cy="16459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Proyecto, estructura y commits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852160"/>
            <a:ext cx="1005840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B3454"/>
                </a:solidFill>
                <a:latin typeface="Aptos"/>
              </a:rPr>
              <a:t>No basta con que los archivos existan: cada elemento debe estar implementado, conectado y utilizado.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Criterio 1: Clase base con atributos encapsulados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Rúbrica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051560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161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70431"/>
            <a:ext cx="10012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Texto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00200"/>
            <a:ext cx="10314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Diseña la clase base con todos los atributos solicitados encapsulados, e incluyendo un constructor completo y funcional.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pide?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Crear Pedido con idPedido, direccionEntrega y tipoPedido, protegidos correctamente.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Evidencia esperada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Ver atributos privados, constructor funcional y datos inicializados.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Un archivo Pedido.java vacío o atributos públicos sin encapsulamiento.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11430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¿Cómo comprobarlo?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Instanciar a través de subclases y verificar que los datos se inicialicen correctamente.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Criterio 2: Método base con lógica genérica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Rúbrica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051560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161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70431"/>
            <a:ext cx="10012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Texto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00200"/>
            <a:ext cx="10314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Implementa correctamente el método base con lógica genérica clara para herencia.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pide?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Definir asignarRepartidor() en Pedido con un comportamiento general.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Evidencia esperada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El método existe, compila y puede servir como punto común de la jerarquía.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Crear solo métodos en subclases sin método base o dejarlo sin sentido.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11430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¿Cómo comprobarlo?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Ejecutar o revisar que el método base tenga mensaje genérico coherente.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Criterio 3: Subclases y sobrescritura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Rúbrica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051560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161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70431"/>
            <a:ext cx="10012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Texto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00200"/>
            <a:ext cx="10314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Crea correctamente todas las subclases y sobrescribe el método con lógica diferenciada según requerimientos.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pide?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Crear PedidoComida, PedidoEncomienda y PedidoExpress heredando de Pedido.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Evidencia esperada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Cada subclase usa @Override y entrega una lógica distinta según el caso.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Tres clases que imprimen exactamente lo mismo o no heredan de Pedido.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11430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¿Cómo comprobarlo?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Ejecutar cada objeto y confirmar que la consola muestra diferencias claras.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Criterio 4: Sobrecarga del 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Rúbrica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051560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161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70431"/>
            <a:ext cx="10012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Texto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00200"/>
            <a:ext cx="10314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Aplica correctamente la sobrecarga del método con parámetros adecuados y lógica coherente.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pide?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Implementar asignarRepartidor(String nombreRepartidor) como versión adicional.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Evidencia esperada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El método recibe el nombre y muestra validaciones coherentes con el tipo de pedido.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Cambiar solo el retorno, cambiar el nombre o no usar el parámetro.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11430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¿Cómo comprobarlo?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Invocar la versión con String desde Main y observar el mensaje generado.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Criterio 5: Main y uso de polimorfismo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Rúbrica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051560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161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70431"/>
            <a:ext cx="10012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Texto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00200"/>
            <a:ext cx="10314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Instancia correctamente los objetos en clase Main, demostrando el uso de polimorfismo.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pide?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Crear objetos de las tres subclases y ejecutar los métodos solicitados.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Evidencia esperada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Main demuestra que los objetos responden distinto a una operación común.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Tener clases creadas pero nunca utilizarlas.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11430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¿Cómo comprobarlo?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Ejecutar Main y revisar que se llamen las versiones sobrescritas y sobrecargadas.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Criterio 6: Salida por consola clara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Rúbrica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051560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161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70431"/>
            <a:ext cx="10012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Texto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00200"/>
            <a:ext cx="10314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Imprime salida por consola clara y completa, evidenciando diferencias por tipo de objeto.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pide?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Mostrar mensajes comprensibles para identificar qué pedido se procesa.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Evidencia esperada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consola permite distinguir comida, encomienda y express.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Imprimir “ok” o mensajes genéricos que no evidencian reglas distintas.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11430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¿Cómo comprobarlo?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Leer la consola sin mirar el código y comprobar que se entiende el comportamiento.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📌 Criterio 7: Entrega completa y commits ordenados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Rúbrica en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051560"/>
            <a:ext cx="73152" cy="91440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1612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70431"/>
            <a:ext cx="100126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Texto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00200"/>
            <a:ext cx="10314432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Entrega el proyecto completo, funcional, con estructura clara y commits ordenados.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240280"/>
            <a:ext cx="73152" cy="1143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¿Qué pide?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Subir un proyecto que compile, incluir ZIP/RAR y repositorio GitHub nuevo público.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35915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Evidencia esperada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88920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GitHub contiene el proyecto, commits comprensibles y enlace accesible.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03320"/>
            <a:ext cx="73152" cy="11430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No basta con...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Repositorio vacío, privado, sin push o ZIP incompleto.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114300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81304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822191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¿Cómo comprobarlo?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251959"/>
            <a:ext cx="4736592" cy="4846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Probar el proyecto, abrir GitHub en incógnito y verificar la entrega en AVA.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4400" b="1">
                <a:solidFill>
                  <a:srgbClr val="FFB700"/>
                </a:solidFill>
                <a:latin typeface="Aptos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04672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10 · Antes de entregar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0">
                <a:solidFill>
                  <a:srgbClr val="D5E3EF"/>
                </a:solidFill>
                <a:latin typeface="Aptos"/>
              </a:rPr>
              <a:t>La última revisión evita la mayoría de los descuentos.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77639"/>
            <a:ext cx="20116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🔎 Principio de evidencia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Crear no es lo mismo que demostrar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2200" b="1">
                <a:solidFill>
                  <a:srgbClr val="0B3454"/>
                </a:solidFill>
                <a:latin typeface="Aptos"/>
              </a:rPr>
              <a:t>Tener una clase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18872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D62D20"/>
                </a:solidFill>
                <a:latin typeface="Aptos"/>
              </a:rPr>
              <a:t>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188720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3D3D3D"/>
                </a:solidFill>
                <a:latin typeface="Aptos"/>
              </a:rPr>
              <a:t>utilizarla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1168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2200" b="1">
                <a:solidFill>
                  <a:srgbClr val="0B3454"/>
                </a:solidFill>
                <a:latin typeface="Aptos"/>
              </a:rPr>
              <a:t>Tener un método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01168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D62D20"/>
                </a:solidFill>
                <a:latin typeface="Aptos"/>
              </a:rPr>
              <a:t>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011680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3D3D3D"/>
                </a:solidFill>
                <a:latin typeface="Aptos"/>
              </a:rPr>
              <a:t>ejecutarlo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2200" b="1">
                <a:solidFill>
                  <a:srgbClr val="0B3454"/>
                </a:solidFill>
                <a:latin typeface="Aptos"/>
              </a:rPr>
              <a:t>Tener @Override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83464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D62D20"/>
                </a:solidFill>
                <a:latin typeface="Aptos"/>
              </a:rPr>
              <a:t>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834640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3D3D3D"/>
                </a:solidFill>
                <a:latin typeface="Aptos"/>
              </a:rPr>
              <a:t>demostrar polimorfismo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5760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2200" b="1">
                <a:solidFill>
                  <a:srgbClr val="0B3454"/>
                </a:solidFill>
                <a:latin typeface="Aptos"/>
              </a:rPr>
              <a:t>Tener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65760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D62D20"/>
                </a:solidFill>
                <a:latin typeface="Aptos"/>
              </a:rPr>
              <a:t>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657600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3D3D3D"/>
                </a:solidFill>
                <a:latin typeface="Aptos"/>
              </a:rPr>
              <a:t>tener el proyecto actualizado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2200" b="1">
                <a:solidFill>
                  <a:srgbClr val="0B3454"/>
                </a:solidFill>
                <a:latin typeface="Aptos"/>
              </a:rPr>
              <a:t>Tener un ZIP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4805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D62D20"/>
                </a:solidFill>
                <a:latin typeface="Aptos"/>
              </a:rPr>
              <a:t>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480560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200" b="1">
                <a:solidFill>
                  <a:srgbClr val="3D3D3D"/>
                </a:solidFill>
                <a:latin typeface="Aptos"/>
              </a:rPr>
              <a:t>que compile en IntelliJ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486400"/>
            <a:ext cx="9601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97280" y="5486400"/>
            <a:ext cx="73152" cy="7315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61872" y="55961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7" y="5605272"/>
            <a:ext cx="89154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Pregunta 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5920324"/>
            <a:ext cx="9217152" cy="731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>
                <a:solidFill>
                  <a:srgbClr val="3D3D3D"/>
                </a:solidFill>
                <a:latin typeface="Aptos"/>
              </a:rPr>
              <a:t>¿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Qué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evidencia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demuestra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este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criterio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cuando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ejecuto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el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proyecto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✅ Checklist final de Semana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Úsalo antes de entregar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1430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133856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Pedido tiene atributos solicitados.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9047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481328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Atributos encapsulados.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37943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828799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Constructor funcional.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185415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176272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Existe asignarRepartidor() genérico.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532887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523744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Existen tres subclases.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880359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871215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Todas heredan correctamente.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27831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18687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Todas sobrescriben el método.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14300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1133856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Existe asignarRepartidor(String).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49047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1481328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Main crea objetos de cada tipo.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837943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1828799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Se ejecutan ambas versiones.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85415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2176272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Consola muestra diferencias.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532887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2523744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Proyecto compila.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880359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2871215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GitHub está actualizado y público.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227831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1">
                <a:solidFill>
                  <a:srgbClr val="3D3D3D"/>
                </a:solidFill>
                <a:latin typeface="Aptos"/>
              </a:rP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3218687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580" b="0">
                <a:solidFill>
                  <a:srgbClr val="3D3D3D"/>
                </a:solidFill>
                <a:latin typeface="Aptos"/>
              </a:rPr>
              <a:t>ZIP/RAR contiene proyecto correcto.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486400"/>
            <a:ext cx="10058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" y="5486400"/>
            <a:ext cx="73152" cy="6858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" y="55961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5605272"/>
            <a:ext cx="9372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Último paso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5891022"/>
            <a:ext cx="9674352" cy="274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 dirty="0" err="1">
                <a:solidFill>
                  <a:srgbClr val="3D3D3D"/>
                </a:solidFill>
                <a:latin typeface="Aptos"/>
              </a:rPr>
              <a:t>Entrega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en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AVA antes del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vencimiento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. No se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considera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entregado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solo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por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existir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3D3D3D"/>
                </a:solidFill>
                <a:latin typeface="Aptos"/>
              </a:rPr>
              <a:t>en</a:t>
            </a:r>
            <a:r>
              <a:rPr sz="1250" b="0" dirty="0">
                <a:solidFill>
                  <a:srgbClr val="3D3D3D"/>
                </a:solidFill>
                <a:latin typeface="Aptos"/>
              </a:rPr>
              <a:t> GitHub.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⚠️ Errores comunes que debemos evitar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La mayoría se detecta ejecutando y revisando la pauta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234440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225296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Confundir sobrecarga con sobrescritura.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18488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1609344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Crear métodos con nombres distintos creyendo que es sobrecarga.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00253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1993392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Cambiar parámetros y pensar que se está sobrescribiendo.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86584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377440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No utilizar @Override donde corresponde.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70632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2761488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Crear subclases que no heredan de Pedido.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79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145536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Tener métodos creados pero nunca ejecutados.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38727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529584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Entregar repositorio privado o desactualizado.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22776"/>
            <a:ext cx="274320" cy="25603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1">
                <a:solidFill>
                  <a:srgbClr val="3D3D3D"/>
                </a:solidFill>
                <a:latin typeface="Aptos"/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3913632"/>
            <a:ext cx="10104120" cy="310896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720" b="0">
                <a:solidFill>
                  <a:srgbClr val="3D3D3D"/>
                </a:solidFill>
                <a:latin typeface="Aptos"/>
              </a:rPr>
              <a:t>Subir archivos sueltos que no forman un proyecto.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166360"/>
            <a:ext cx="100584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" y="5166360"/>
            <a:ext cx="73152" cy="7772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527608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285232"/>
            <a:ext cx="9372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Consejo del profe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715000"/>
            <a:ext cx="9674352" cy="1188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Cuando algo no compile, no borres todo. Lee el error, identifica la línea y corrige una cosa a la vez.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💬 Foro, material complementario y grabación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Dónde continuar aprendiendo después de la sesión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123444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73152" cy="1234440"/>
          </a:xfrm>
          <a:prstGeom prst="rect">
            <a:avLst/>
          </a:prstGeom>
          <a:solidFill>
            <a:srgbClr val="0B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135331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Foro de Semana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1783080"/>
            <a:ext cx="473659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Espacio para preguntas, errores, ejemplos paralelos y orientación de la actividad.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3444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73152" cy="12344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134416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35331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Material complementario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783080"/>
            <a:ext cx="473659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Al final del foro, mediante una respuesta docente, encontrarás guías, códigos y ejercicios.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97180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2971800"/>
            <a:ext cx="73152" cy="123444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30815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09067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Grabación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520440"/>
            <a:ext cx="473659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La sesión quedará disponible en AVA con PPT, ejemplos y recursos usados en clase.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971800"/>
            <a:ext cx="51206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2971800"/>
            <a:ext cx="73152" cy="1234440"/>
          </a:xfrm>
          <a:prstGeom prst="rect">
            <a:avLst/>
          </a:prstGeom>
          <a:solidFill>
            <a:srgbClr val="F27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0815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090672"/>
            <a:ext cx="443484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Cómo pedir ayuda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520440"/>
            <a:ext cx="473659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Comparte código relevante, mensaje de error, qué esperabas y qué ocurrió realmente.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0B3454"/>
                </a:solidFill>
                <a:latin typeface="Aptos"/>
              </a:rPr>
              <a:t>Una buena pregunta puede ayudar a toda la sección.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1828800" cy="1413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20624"/>
            <a:ext cx="109728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10896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700" b="1">
                <a:solidFill>
                  <a:srgbClr val="0B3454"/>
                </a:solidFill>
                <a:latin typeface="Aptos"/>
              </a:rPr>
              <a:t>🔗 ¿Cómo se conecta con Semana 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95528"/>
            <a:ext cx="9509760" cy="292608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777777"/>
                </a:solidFill>
                <a:latin typeface="Aptos"/>
              </a:rPr>
              <a:t>De clase base concreta a clase abstracta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8A8A8A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8A8A8A"/>
                </a:solidFill>
                <a:latin typeface="Aptos"/>
              </a:rPr>
              <a:t>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14300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200" b="1">
                <a:solidFill>
                  <a:srgbClr val="0B3454"/>
                </a:solidFill>
                <a:latin typeface="Aptos"/>
              </a:rPr>
              <a:t>Semana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700" b="0">
                <a:solidFill>
                  <a:srgbClr val="3D3D3D"/>
                </a:solidFill>
                <a:latin typeface="Aptos"/>
              </a:rPr>
              <a:t>Polimorfismo
Sobrecarga
Sobrescritura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57600" y="1627632"/>
            <a:ext cx="1097280" cy="36576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114300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200" b="1">
                <a:solidFill>
                  <a:srgbClr val="0B3454"/>
                </a:solidFill>
                <a:latin typeface="Aptos"/>
              </a:rPr>
              <a:t>Semana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6002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700" b="0">
                <a:solidFill>
                  <a:srgbClr val="3D3D3D"/>
                </a:solidFill>
                <a:latin typeface="Aptos"/>
              </a:rPr>
              <a:t>Clases abstractas
Métodos abstractos
Jerarquías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35240" y="1627632"/>
            <a:ext cx="1097280" cy="365760"/>
          </a:xfrm>
          <a:prstGeom prst="rightArrow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14300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200" b="1">
                <a:solidFill>
                  <a:srgbClr val="0B3454"/>
                </a:solidFill>
                <a:latin typeface="Aptos"/>
              </a:rPr>
              <a:t>Semana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6002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1700" b="0">
                <a:solidFill>
                  <a:srgbClr val="3D3D3D"/>
                </a:solidFill>
                <a:latin typeface="Aptos"/>
              </a:rPr>
              <a:t>Interfaces
Desacoplamiento
Sumativa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657600"/>
            <a:ext cx="10058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3657600"/>
            <a:ext cx="73152" cy="9601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0432" y="3767328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0B3454"/>
                </a:solidFill>
                <a:latin typeface="Aptos"/>
              </a:rPr>
              <a:t>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76472"/>
            <a:ext cx="937260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Pregunta para la próxima clase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206240"/>
            <a:ext cx="9674352" cy="30175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¿Qué ocurre si Pedido no debería poder instanciarse directamente, pero sí debe obligar a sus subclases a implementar ciertas operaciones?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ctr"/>
            <a:r>
              <a:rPr sz="2400" b="1">
                <a:solidFill>
                  <a:srgbClr val="0B3454"/>
                </a:solidFill>
                <a:latin typeface="Aptos"/>
              </a:rPr>
              <a:t>Ahí aparecerán las clases abstractas.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6583680" cy="502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🚀 Cierre de la Semana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6949440" cy="10058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2400" b="1">
                <a:solidFill>
                  <a:srgbClr val="D4E2EE"/>
                </a:solidFill>
                <a:latin typeface="Aptos"/>
              </a:rPr>
              <a:t>Programar no es memorizar código. Es diseñar, probar, equivocarse, corregir y explicar qué está ocurriendo.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971800"/>
            <a:ext cx="6675120" cy="123444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971800"/>
            <a:ext cx="73152" cy="12344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3090672"/>
            <a:ext cx="6355080" cy="3474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650" b="1">
                <a:solidFill>
                  <a:srgbClr val="0B3454"/>
                </a:solidFill>
                <a:latin typeface="Aptos"/>
              </a:rPr>
              <a:t>Qué deberías llevarte 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520440"/>
            <a:ext cx="6291072" cy="576072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250" b="0">
                <a:solidFill>
                  <a:srgbClr val="3D3D3D"/>
                </a:solidFill>
                <a:latin typeface="Aptos"/>
              </a:rPr>
              <a:t>Polimorfismo = misma operación, comportamientos distintos. Sobrescritura = especializar un método heredado. Sobrecarga = mismo nombre con parámetros diferentes.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Francesco Tossi Brante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1350" b="0">
                <a:solidFill>
                  <a:srgbClr val="D4E2EE"/>
                </a:solidFill>
                <a:latin typeface="Aptos"/>
              </a:rPr>
              <a:t>Docente Campus Virtual Duoc UC
fr.tossi@profesor.duoc.cl</a:t>
            </a:r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983480"/>
            <a:ext cx="2743200" cy="2119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565392"/>
            <a:ext cx="6035040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/>
            <a:r>
              <a:rPr sz="880" b="0">
                <a:solidFill>
                  <a:srgbClr val="9EB6C7"/>
                </a:solidFill>
                <a:latin typeface="Aptos"/>
              </a:rPr>
              <a:t>Francesco Tossi Brante · Campus Virtual Duoc 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56248"/>
            <a:ext cx="292608" cy="1828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r"/>
            <a:r>
              <a:rPr sz="880" b="0">
                <a:solidFill>
                  <a:srgbClr val="9EB6C7"/>
                </a:solidFill>
                <a:latin typeface="Aptos"/>
              </a:rPr>
              <a:t>71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201400" cy="13716"/>
          </a:xfrm>
          <a:prstGeom prst="rect">
            <a:avLst/>
          </a:prstGeom>
          <a:solidFill>
            <a:srgbClr val="1A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6853</Words>
  <Application>Microsoft Macintosh PowerPoint</Application>
  <PresentationFormat>Panorámica</PresentationFormat>
  <Paragraphs>1160</Paragraphs>
  <Slides>70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70</vt:i4>
      </vt:variant>
    </vt:vector>
  </HeadingPairs>
  <TitlesOfParts>
    <vt:vector size="75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Catherine Bernardin Moreno</cp:lastModifiedBy>
  <cp:revision>7</cp:revision>
  <dcterms:created xsi:type="dcterms:W3CDTF">2013-01-27T09:14:16Z</dcterms:created>
  <dcterms:modified xsi:type="dcterms:W3CDTF">2026-08-15T17:05:01Z</dcterms:modified>
  <cp:category/>
</cp:coreProperties>
</file>